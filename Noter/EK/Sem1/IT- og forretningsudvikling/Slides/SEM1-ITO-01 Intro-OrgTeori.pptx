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1" r:id="rId34"/>
    <p:sldId id="292" r:id="rId3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66"/>
    <a:srgbClr val="000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184" autoAdjust="0"/>
  </p:normalViewPr>
  <p:slideViewPr>
    <p:cSldViewPr snapToGrid="0">
      <p:cViewPr varScale="1">
        <p:scale>
          <a:sx n="138" d="100"/>
          <a:sy n="138" d="100"/>
        </p:scale>
        <p:origin x="118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86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6D8AB-1961-48F6-9A95-CFCACA5D556B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ED1C2-DAA2-4D71-8750-935CB54CB90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60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46760-293A-4F0C-BA75-E644AB4FFDCE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86A91-EABF-4746-8CE8-ED2A35568BC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2050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AI/</a:t>
            </a:r>
            <a:r>
              <a:rPr lang="en-US" dirty="0" err="1"/>
              <a:t>ChatGpt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Det </a:t>
            </a:r>
            <a:r>
              <a:rPr lang="en-US" dirty="0" err="1"/>
              <a:t>globaliserede</a:t>
            </a:r>
            <a:r>
              <a:rPr lang="en-US" dirty="0"/>
              <a:t> </a:t>
            </a:r>
            <a:r>
              <a:rPr lang="en-US" dirty="0" err="1"/>
              <a:t>samfund</a:t>
            </a:r>
            <a:r>
              <a:rPr lang="en-US" dirty="0"/>
              <a:t> -&gt; </a:t>
            </a:r>
            <a:r>
              <a:rPr lang="en-US" dirty="0" err="1"/>
              <a:t>Intellektuel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Teknisk</a:t>
            </a:r>
            <a:r>
              <a:rPr lang="en-US" dirty="0"/>
              <a:t> </a:t>
            </a:r>
            <a:r>
              <a:rPr lang="en-US" dirty="0" err="1"/>
              <a:t>udvikling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86A91-EABF-4746-8CE8-ED2A35568BC4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7855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Kultur: Mærsk -&gt; </a:t>
            </a:r>
            <a:r>
              <a:rPr lang="en-US" dirty="0" err="1"/>
              <a:t>Retidig</a:t>
            </a:r>
            <a:r>
              <a:rPr lang="en-US" dirty="0"/>
              <a:t> </a:t>
            </a:r>
            <a:r>
              <a:rPr lang="en-US" dirty="0" err="1"/>
              <a:t>Omhu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86A91-EABF-4746-8CE8-ED2A35568BC4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4544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 -&gt; </a:t>
            </a:r>
            <a:r>
              <a:rPr lang="en-US" dirty="0" err="1"/>
              <a:t>Medarbejdermøde</a:t>
            </a:r>
            <a:r>
              <a:rPr lang="en-US" dirty="0"/>
              <a:t> </a:t>
            </a:r>
            <a:r>
              <a:rPr lang="en-US" dirty="0" err="1"/>
              <a:t>omkring</a:t>
            </a:r>
            <a:r>
              <a:rPr lang="en-US" dirty="0"/>
              <a:t> Strategi for EK!</a:t>
            </a:r>
          </a:p>
          <a:p>
            <a:r>
              <a:rPr lang="en-US" dirty="0"/>
              <a:t>Løn -&gt; </a:t>
            </a:r>
            <a:r>
              <a:rPr lang="en-US" dirty="0" err="1"/>
              <a:t>Kortsigtet</a:t>
            </a:r>
            <a:endParaRPr lang="en-US" dirty="0"/>
          </a:p>
          <a:p>
            <a:endParaRPr lang="en-US" dirty="0"/>
          </a:p>
          <a:p>
            <a:r>
              <a:rPr lang="en-US" dirty="0"/>
              <a:t>Strategi -&gt; </a:t>
            </a:r>
            <a:r>
              <a:rPr lang="en-US" dirty="0" err="1"/>
              <a:t>Sætte</a:t>
            </a:r>
            <a:r>
              <a:rPr lang="en-US" dirty="0"/>
              <a:t> den </a:t>
            </a:r>
            <a:r>
              <a:rPr lang="en-US" dirty="0" err="1"/>
              <a:t>enkelte</a:t>
            </a:r>
            <a:r>
              <a:rPr lang="en-US" dirty="0"/>
              <a:t> stud I centrum -&gt; 50 per </a:t>
            </a:r>
            <a:r>
              <a:rPr lang="en-US" dirty="0" err="1"/>
              <a:t>klasse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86A91-EABF-4746-8CE8-ED2A35568BC4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4371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Forskellige</a:t>
            </a:r>
            <a:r>
              <a:rPr lang="en-US" dirty="0"/>
              <a:t> typer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virksomheder</a:t>
            </a:r>
            <a:r>
              <a:rPr lang="en-US" dirty="0"/>
              <a:t>,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grundregel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teoretisk</a:t>
            </a:r>
            <a:r>
              <a:rPr lang="en-US" dirty="0"/>
              <a:t> </a:t>
            </a:r>
            <a:r>
              <a:rPr lang="en-US" dirty="0" err="1"/>
              <a:t>opfattelse</a:t>
            </a:r>
            <a:r>
              <a:rPr lang="en-US" dirty="0"/>
              <a:t> – Prod. Virk </a:t>
            </a:r>
            <a:r>
              <a:rPr lang="en-US" dirty="0" err="1"/>
              <a:t>stadig</a:t>
            </a:r>
            <a:r>
              <a:rPr lang="en-US" dirty="0"/>
              <a:t> </a:t>
            </a:r>
            <a:r>
              <a:rPr lang="en-US" dirty="0" err="1"/>
              <a:t>Klassiske</a:t>
            </a:r>
            <a:r>
              <a:rPr lang="en-US" dirty="0"/>
              <a:t> </a:t>
            </a:r>
            <a:r>
              <a:rPr lang="en-US" dirty="0" err="1"/>
              <a:t>elementer</a:t>
            </a:r>
            <a:r>
              <a:rPr lang="en-US" dirty="0"/>
              <a:t>!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86A91-EABF-4746-8CE8-ED2A35568BC4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9636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Underviser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KEA: Kan </a:t>
            </a:r>
            <a:r>
              <a:rPr lang="en-US" dirty="0" err="1"/>
              <a:t>påvirke</a:t>
            </a:r>
            <a:r>
              <a:rPr lang="en-US" dirty="0"/>
              <a:t> </a:t>
            </a:r>
            <a:r>
              <a:rPr lang="en-US" dirty="0" err="1"/>
              <a:t>kulturen</a:t>
            </a:r>
            <a:r>
              <a:rPr lang="en-US" dirty="0"/>
              <a:t>, men I </a:t>
            </a:r>
            <a:r>
              <a:rPr lang="en-US" dirty="0" err="1"/>
              <a:t>sidste</a:t>
            </a:r>
            <a:r>
              <a:rPr lang="en-US" dirty="0"/>
              <a:t> </a:t>
            </a:r>
            <a:r>
              <a:rPr lang="en-US" dirty="0" err="1"/>
              <a:t>ende</a:t>
            </a:r>
            <a:r>
              <a:rPr lang="en-US" dirty="0"/>
              <a:t> er det </a:t>
            </a:r>
            <a:r>
              <a:rPr lang="en-US" dirty="0" err="1"/>
              <a:t>jer</a:t>
            </a:r>
            <a:r>
              <a:rPr lang="en-US" dirty="0"/>
              <a:t> der </a:t>
            </a:r>
            <a:r>
              <a:rPr lang="en-US" dirty="0" err="1"/>
              <a:t>bestemmer</a:t>
            </a:r>
            <a:r>
              <a:rPr lang="en-US" dirty="0"/>
              <a:t>!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86A91-EABF-4746-8CE8-ED2A35568BC4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683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ChatGpt</a:t>
            </a:r>
            <a:r>
              <a:rPr lang="en-US" dirty="0"/>
              <a:t>/AI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86A91-EABF-4746-8CE8-ED2A35568BC4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5603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Intressenter</a:t>
            </a:r>
            <a:r>
              <a:rPr lang="en-US" dirty="0"/>
              <a:t>/Stakeholders! Kommer vi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senere</a:t>
            </a:r>
            <a:r>
              <a:rPr lang="en-US" dirty="0"/>
              <a:t>!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86A91-EABF-4746-8CE8-ED2A35568BC4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5373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533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143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610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152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551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6163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7980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6190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867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702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2750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38952512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29508427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0070815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9725953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41383512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95342565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59607354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10051845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20532926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23137812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89894662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424487739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325541144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3940006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23323260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408668270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385232095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3687604306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2337027260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3134222420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03732103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798682578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319190659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3374002930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2526512532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515165537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060532254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K:\6 Trojka\Nye udgaver 2017\PowerPoints - Trojka.dk 2017\Diasmaster\2017-07-07_18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30503"/>
            <a:ext cx="12192000" cy="4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/>
          <p:cNvSpPr txBox="1">
            <a:spLocks noGrp="1"/>
          </p:cNvSpPr>
          <p:nvPr>
            <p:ph idx="4294967295"/>
          </p:nvPr>
        </p:nvSpPr>
        <p:spPr>
          <a:xfrm>
            <a:off x="1679509" y="1155299"/>
            <a:ext cx="9806879" cy="45259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a-DK" dirty="0"/>
          </a:p>
        </p:txBody>
      </p:sp>
      <p:pic>
        <p:nvPicPr>
          <p:cNvPr id="2053" name="Picture 5" descr="K:\6 Trojka\Nye udgaver 2017\PowerPoints - Trojka.dk 2017\Diasmaster\2017-07-07_18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581"/>
            <a:ext cx="1270177" cy="68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boks 1"/>
          <p:cNvSpPr txBox="1"/>
          <p:nvPr userDrawn="1"/>
        </p:nvSpPr>
        <p:spPr>
          <a:xfrm>
            <a:off x="1279631" y="6470561"/>
            <a:ext cx="318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Organisation – 6. udgave</a:t>
            </a:r>
          </a:p>
        </p:txBody>
      </p:sp>
    </p:spTree>
    <p:extLst>
      <p:ext uri="{BB962C8B-B14F-4D97-AF65-F5344CB8AC3E}">
        <p14:creationId xmlns:p14="http://schemas.microsoft.com/office/powerpoint/2010/main" val="18277976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DEA42-C0CB-4AD9-A5C0-0426CF868715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6C988-F210-4E18-AD5D-FF87B23B93BB}" type="slidenum">
              <a:rPr lang="da-DK" smtClean="0"/>
              <a:t>‹#›</a:t>
            </a:fld>
            <a:endParaRPr lang="da-DK"/>
          </a:p>
        </p:txBody>
      </p:sp>
      <p:sp>
        <p:nvSpPr>
          <p:cNvPr id="7" name="Pladsholder til sidefod 3"/>
          <p:cNvSpPr txBox="1">
            <a:spLocks/>
          </p:cNvSpPr>
          <p:nvPr userDrawn="1"/>
        </p:nvSpPr>
        <p:spPr>
          <a:xfrm>
            <a:off x="6038334" y="6492875"/>
            <a:ext cx="615894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rgbClr val="0000FF"/>
                </a:solidFill>
                <a:latin typeface="Arial Black" panose="020B0A04020102020204" pitchFamily="34" charset="0"/>
              </a:rPr>
              <a:t>KEA</a:t>
            </a:r>
            <a:r>
              <a:rPr lang="da-DK" dirty="0">
                <a:solidFill>
                  <a:srgbClr val="0000FF"/>
                </a:solidFill>
              </a:rPr>
              <a:t>   -  Københavns </a:t>
            </a:r>
            <a:r>
              <a:rPr lang="da-DK" dirty="0" err="1">
                <a:solidFill>
                  <a:srgbClr val="0000FF"/>
                </a:solidFill>
              </a:rPr>
              <a:t>ErhvervsAkademi</a:t>
            </a:r>
            <a:r>
              <a:rPr lang="da-DK" dirty="0">
                <a:solidFill>
                  <a:srgbClr val="0000FF"/>
                </a:solidFill>
              </a:rPr>
              <a:t> // James Hindsgavl Brink // James.brink@gmx.com</a:t>
            </a:r>
          </a:p>
        </p:txBody>
      </p:sp>
    </p:spTree>
    <p:extLst>
      <p:ext uri="{BB962C8B-B14F-4D97-AF65-F5344CB8AC3E}">
        <p14:creationId xmlns:p14="http://schemas.microsoft.com/office/powerpoint/2010/main" val="337449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0" y="171450"/>
            <a:ext cx="12192000" cy="1000125"/>
          </a:xfrm>
        </p:spPr>
        <p:txBody>
          <a:bodyPr>
            <a:normAutofit/>
          </a:bodyPr>
          <a:lstStyle/>
          <a:p>
            <a:pPr algn="l"/>
            <a:r>
              <a:rPr lang="da-DK" sz="4800" b="1" dirty="0">
                <a:latin typeface="Arial Black" panose="020B0A04020102020204" pitchFamily="34" charset="0"/>
              </a:rPr>
              <a:t>ITO-1	      						   modul 01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371474" y="1614641"/>
            <a:ext cx="11122435" cy="4294546"/>
          </a:xfrm>
        </p:spPr>
        <p:txBody>
          <a:bodyPr>
            <a:normAutofit/>
          </a:bodyPr>
          <a:lstStyle/>
          <a:p>
            <a:pPr algn="l"/>
            <a:r>
              <a:rPr lang="da-DK" b="1" dirty="0">
                <a:solidFill>
                  <a:srgbClr val="002060"/>
                </a:solidFill>
              </a:rPr>
              <a:t>Læringsmål: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/>
              <a:t>Introduktion til ITO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/>
              <a:t>Organisation og omverden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a-DK" dirty="0"/>
              <a:t>Organisationsteorier</a:t>
            </a:r>
          </a:p>
          <a:p>
            <a:pPr algn="l"/>
            <a:endParaRPr lang="da-DK" dirty="0"/>
          </a:p>
          <a:p>
            <a:pPr algn="l"/>
            <a:endParaRPr lang="da-DK" dirty="0"/>
          </a:p>
          <a:p>
            <a:pPr algn="l"/>
            <a:r>
              <a:rPr lang="da-DK" b="1" dirty="0">
                <a:solidFill>
                  <a:srgbClr val="002060"/>
                </a:solidFill>
              </a:rPr>
              <a:t>Litteratur:</a:t>
            </a:r>
          </a:p>
          <a:p>
            <a:pPr algn="l"/>
            <a:r>
              <a:rPr lang="da-DK" dirty="0"/>
              <a:t>Skriver kap.1</a:t>
            </a:r>
          </a:p>
          <a:p>
            <a:pPr algn="l"/>
            <a:r>
              <a:rPr lang="da-DK" dirty="0"/>
              <a:t>Skriver kap.6. s. 206-233</a:t>
            </a:r>
          </a:p>
          <a:p>
            <a:pPr algn="l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3074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299202"/>
          </a:xfrm>
        </p:spPr>
        <p:txBody>
          <a:bodyPr/>
          <a:lstStyle/>
          <a:p>
            <a:r>
              <a:rPr lang="da-DK" b="1" dirty="0">
                <a:solidFill>
                  <a:srgbClr val="7030A0"/>
                </a:solidFill>
                <a:latin typeface="Arial Black" panose="020B0A04020102020204" pitchFamily="34" charset="0"/>
              </a:rPr>
              <a:t>Hvorfor ITO?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87670" y="1522089"/>
            <a:ext cx="10515600" cy="4691063"/>
          </a:xfrm>
        </p:spPr>
        <p:txBody>
          <a:bodyPr/>
          <a:lstStyle/>
          <a:p>
            <a:r>
              <a:rPr lang="da-DK" dirty="0"/>
              <a:t>Som udvikler arbejder man ofte i et større miljø </a:t>
            </a:r>
            <a:br>
              <a:rPr lang="da-DK" dirty="0"/>
            </a:br>
            <a:r>
              <a:rPr lang="da-DK" dirty="0"/>
              <a:t>Hvor det er </a:t>
            </a:r>
            <a:r>
              <a:rPr lang="da-DK" i="1" dirty="0"/>
              <a:t>vigtigt</a:t>
            </a:r>
            <a:r>
              <a:rPr lang="da-DK" dirty="0"/>
              <a:t> at kunne forstå organisationen</a:t>
            </a:r>
          </a:p>
          <a:p>
            <a:r>
              <a:rPr lang="da-DK" dirty="0"/>
              <a:t>Som udvikler vil man i dag </a:t>
            </a:r>
            <a:r>
              <a:rPr lang="da-DK" i="1" dirty="0"/>
              <a:t>arbejde tæt med kunden </a:t>
            </a:r>
            <a:br>
              <a:rPr lang="da-DK" dirty="0"/>
            </a:br>
            <a:r>
              <a:rPr lang="da-DK" dirty="0"/>
              <a:t>hvor applikationerne skal arbejde på tværs af </a:t>
            </a:r>
            <a:br>
              <a:rPr lang="da-DK" dirty="0"/>
            </a:br>
            <a:r>
              <a:rPr lang="da-DK" dirty="0"/>
              <a:t>virksomheden</a:t>
            </a:r>
          </a:p>
          <a:p>
            <a:r>
              <a:rPr lang="da-DK" dirty="0"/>
              <a:t>Som udvikler vil man ofte sidde og </a:t>
            </a:r>
            <a:r>
              <a:rPr lang="da-DK" i="1" dirty="0"/>
              <a:t>evaluere</a:t>
            </a:r>
            <a:r>
              <a:rPr lang="da-DK" dirty="0"/>
              <a:t> med </a:t>
            </a:r>
            <a:br>
              <a:rPr lang="da-DK" dirty="0"/>
            </a:br>
            <a:r>
              <a:rPr lang="da-DK" dirty="0"/>
              <a:t>brugere, </a:t>
            </a:r>
            <a:r>
              <a:rPr lang="da-DK" i="1" dirty="0"/>
              <a:t>projektledere</a:t>
            </a:r>
            <a:r>
              <a:rPr lang="da-DK" dirty="0"/>
              <a:t> og </a:t>
            </a:r>
            <a:r>
              <a:rPr lang="da-DK" i="1" dirty="0"/>
              <a:t>mellemledere</a:t>
            </a:r>
            <a:r>
              <a:rPr lang="da-DK" dirty="0"/>
              <a:t> og det er vigtigt af forstå</a:t>
            </a:r>
            <a:br>
              <a:rPr lang="da-DK" dirty="0"/>
            </a:br>
            <a:r>
              <a:rPr lang="da-DK" dirty="0"/>
              <a:t>Den struktur man arbejder med.</a:t>
            </a:r>
          </a:p>
          <a:p>
            <a:r>
              <a:rPr lang="da-DK" dirty="0"/>
              <a:t>Udviklere sidder i dag tæt på kunden og arbejder med brugerrejsen og skal forstå kundens ønsker og behov og </a:t>
            </a:r>
            <a:r>
              <a:rPr lang="da-DK" i="1" dirty="0"/>
              <a:t>sammen designe løsninger</a:t>
            </a:r>
            <a:endParaRPr lang="da-DK" dirty="0"/>
          </a:p>
        </p:txBody>
      </p:sp>
      <p:grpSp>
        <p:nvGrpSpPr>
          <p:cNvPr id="5" name="Gruppe 4"/>
          <p:cNvGrpSpPr/>
          <p:nvPr/>
        </p:nvGrpSpPr>
        <p:grpSpPr>
          <a:xfrm>
            <a:off x="7693730" y="199262"/>
            <a:ext cx="2342554" cy="2342554"/>
            <a:chOff x="0" y="873840"/>
            <a:chExt cx="2342554" cy="2342554"/>
          </a:xfrm>
        </p:grpSpPr>
        <p:sp>
          <p:nvSpPr>
            <p:cNvPr id="6" name="Ellipse 5"/>
            <p:cNvSpPr/>
            <p:nvPr/>
          </p:nvSpPr>
          <p:spPr>
            <a:xfrm>
              <a:off x="0" y="873840"/>
              <a:ext cx="2342554" cy="2342554"/>
            </a:xfrm>
            <a:prstGeom prst="ellipse">
              <a:avLst/>
            </a:prstGeom>
            <a:solidFill>
              <a:schemeClr val="tx2">
                <a:lumMod val="60000"/>
                <a:lumOff val="40000"/>
                <a:alpha val="62000"/>
              </a:schemeClr>
            </a:solidFill>
            <a:ln>
              <a:solidFill>
                <a:schemeClr val="accent6">
                  <a:lumMod val="75000"/>
                  <a:alpha val="82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7" name="Ellipse 4"/>
            <p:cNvSpPr txBox="1"/>
            <p:nvPr/>
          </p:nvSpPr>
          <p:spPr>
            <a:xfrm>
              <a:off x="343059" y="1216899"/>
              <a:ext cx="1656436" cy="16564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28919" tIns="71120" rIns="128919" bIns="71120" numCol="1" spcCol="1270" anchor="ctr" anchorCtr="0">
              <a:noAutofit/>
            </a:bodyPr>
            <a:lstStyle/>
            <a:p>
              <a:pPr lvl="0" algn="ctr" defTabSz="2489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a-DK" sz="5600" kern="1200" dirty="0">
                  <a:solidFill>
                    <a:schemeClr val="bg1">
                      <a:lumMod val="50000"/>
                    </a:schemeClr>
                  </a:solidFill>
                </a:rPr>
                <a:t>ITO</a:t>
              </a:r>
            </a:p>
          </p:txBody>
        </p:sp>
      </p:grpSp>
      <p:grpSp>
        <p:nvGrpSpPr>
          <p:cNvPr id="8" name="Gruppe 7"/>
          <p:cNvGrpSpPr/>
          <p:nvPr/>
        </p:nvGrpSpPr>
        <p:grpSpPr>
          <a:xfrm>
            <a:off x="9595852" y="199262"/>
            <a:ext cx="2342554" cy="2342554"/>
            <a:chOff x="1876722" y="860722"/>
            <a:chExt cx="2342554" cy="2342554"/>
          </a:xfrm>
        </p:grpSpPr>
        <p:sp>
          <p:nvSpPr>
            <p:cNvPr id="9" name="Ellipse 8"/>
            <p:cNvSpPr/>
            <p:nvPr/>
          </p:nvSpPr>
          <p:spPr>
            <a:xfrm>
              <a:off x="1876722" y="860722"/>
              <a:ext cx="2342554" cy="2342554"/>
            </a:xfrm>
            <a:prstGeom prst="ellipse">
              <a:avLst/>
            </a:prstGeom>
            <a:solidFill>
              <a:schemeClr val="accent3">
                <a:alpha val="66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0" name="Ellipse 6"/>
            <p:cNvSpPr txBox="1"/>
            <p:nvPr/>
          </p:nvSpPr>
          <p:spPr>
            <a:xfrm>
              <a:off x="2219781" y="1203781"/>
              <a:ext cx="1656436" cy="16564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28919" tIns="71120" rIns="128919" bIns="71120" numCol="1" spcCol="1270" anchor="ctr" anchorCtr="0">
              <a:noAutofit/>
            </a:bodyPr>
            <a:lstStyle/>
            <a:p>
              <a:pPr lvl="0" algn="ctr" defTabSz="2489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a-DK" sz="5600" kern="1200" dirty="0">
                  <a:solidFill>
                    <a:schemeClr val="bg1">
                      <a:lumMod val="50000"/>
                    </a:schemeClr>
                  </a:solidFill>
                </a:rPr>
                <a:t>SWD</a:t>
              </a:r>
            </a:p>
          </p:txBody>
        </p:sp>
      </p:grpSp>
      <p:grpSp>
        <p:nvGrpSpPr>
          <p:cNvPr id="11" name="Gruppe 10"/>
          <p:cNvGrpSpPr/>
          <p:nvPr/>
        </p:nvGrpSpPr>
        <p:grpSpPr>
          <a:xfrm>
            <a:off x="8660716" y="1697032"/>
            <a:ext cx="2342554" cy="2342554"/>
            <a:chOff x="3750766" y="860722"/>
            <a:chExt cx="2342554" cy="2342554"/>
          </a:xfrm>
        </p:grpSpPr>
        <p:sp>
          <p:nvSpPr>
            <p:cNvPr id="12" name="Ellipse 11"/>
            <p:cNvSpPr/>
            <p:nvPr/>
          </p:nvSpPr>
          <p:spPr>
            <a:xfrm>
              <a:off x="3750766" y="860722"/>
              <a:ext cx="2342554" cy="2342554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3" name="Ellipse 8"/>
            <p:cNvSpPr txBox="1"/>
            <p:nvPr/>
          </p:nvSpPr>
          <p:spPr>
            <a:xfrm>
              <a:off x="4093825" y="1203781"/>
              <a:ext cx="1656436" cy="16564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28919" tIns="71120" rIns="128919" bIns="71120" numCol="1" spcCol="1270" anchor="ctr" anchorCtr="0">
              <a:noAutofit/>
            </a:bodyPr>
            <a:lstStyle/>
            <a:p>
              <a:pPr lvl="0" algn="ctr" defTabSz="2489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a-DK" sz="5600" kern="1200" dirty="0">
                  <a:solidFill>
                    <a:schemeClr val="bg1">
                      <a:lumMod val="50000"/>
                    </a:schemeClr>
                  </a:solidFill>
                </a:rPr>
                <a:t>SWK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8130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9803" y="0"/>
            <a:ext cx="11115675" cy="1082675"/>
          </a:xfrm>
        </p:spPr>
        <p:txBody>
          <a:bodyPr>
            <a:normAutofit/>
          </a:bodyPr>
          <a:lstStyle/>
          <a:p>
            <a:r>
              <a:rPr lang="da-DK" b="1" dirty="0">
                <a:solidFill>
                  <a:srgbClr val="7030A0"/>
                </a:solidFill>
                <a:latin typeface="Arial Black" panose="020B0A04020102020204" pitchFamily="34" charset="0"/>
              </a:rPr>
              <a:t>Læringsmål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38162" y="1619168"/>
            <a:ext cx="10515600" cy="4351338"/>
          </a:xfrm>
        </p:spPr>
        <p:txBody>
          <a:bodyPr/>
          <a:lstStyle/>
          <a:p>
            <a:pPr lvl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GB" dirty="0"/>
              <a:t>At </a:t>
            </a:r>
            <a:r>
              <a:rPr lang="en-GB" dirty="0" err="1"/>
              <a:t>forstå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genkende</a:t>
            </a:r>
            <a:r>
              <a:rPr lang="en-GB" dirty="0"/>
              <a:t> </a:t>
            </a:r>
            <a:r>
              <a:rPr lang="en-GB" b="1" dirty="0" err="1">
                <a:solidFill>
                  <a:srgbClr val="E46C0A"/>
                </a:solidFill>
              </a:rPr>
              <a:t>organisationsmodeller</a:t>
            </a:r>
            <a:endParaRPr lang="en-GB" b="1" dirty="0">
              <a:solidFill>
                <a:srgbClr val="E46C0A"/>
              </a:solidFill>
            </a:endParaRPr>
          </a:p>
          <a:p>
            <a:pPr lvl="1">
              <a:lnSpc>
                <a:spcPct val="80000"/>
              </a:lnSpc>
              <a:buFontTx/>
              <a:buNone/>
              <a:defRPr/>
            </a:pPr>
            <a:endParaRPr lang="en-GB" dirty="0"/>
          </a:p>
          <a:p>
            <a:pPr lvl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GB" dirty="0"/>
              <a:t>At </a:t>
            </a:r>
            <a:r>
              <a:rPr lang="en-GB" dirty="0" err="1"/>
              <a:t>forstå</a:t>
            </a:r>
            <a:r>
              <a:rPr lang="en-GB" dirty="0"/>
              <a:t> </a:t>
            </a:r>
            <a:r>
              <a:rPr lang="en-GB" b="1" dirty="0" err="1">
                <a:solidFill>
                  <a:srgbClr val="E46C0A"/>
                </a:solidFill>
              </a:rPr>
              <a:t>forretningsmodeller</a:t>
            </a:r>
            <a:r>
              <a:rPr lang="en-GB" b="1" dirty="0">
                <a:solidFill>
                  <a:srgbClr val="E46C0A"/>
                </a:solidFill>
              </a:rPr>
              <a:t> </a:t>
            </a:r>
            <a:r>
              <a:rPr lang="en-GB" b="1" dirty="0" err="1">
                <a:solidFill>
                  <a:srgbClr val="E46C0A"/>
                </a:solidFill>
              </a:rPr>
              <a:t>og</a:t>
            </a:r>
            <a:r>
              <a:rPr lang="en-GB" b="1" dirty="0">
                <a:solidFill>
                  <a:srgbClr val="E46C0A"/>
                </a:solidFill>
              </a:rPr>
              <a:t> </a:t>
            </a:r>
            <a:r>
              <a:rPr lang="en-GB" b="1" dirty="0" err="1">
                <a:solidFill>
                  <a:srgbClr val="E46C0A"/>
                </a:solidFill>
              </a:rPr>
              <a:t>strategier</a:t>
            </a:r>
            <a:r>
              <a:rPr lang="en-GB" b="1" dirty="0">
                <a:solidFill>
                  <a:srgbClr val="E46C0A"/>
                </a:solidFill>
              </a:rPr>
              <a:t> </a:t>
            </a:r>
            <a:r>
              <a:rPr lang="en-GB" dirty="0"/>
              <a:t>I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virksomhed</a:t>
            </a:r>
            <a:endParaRPr lang="en-GB" dirty="0"/>
          </a:p>
          <a:p>
            <a:pPr lvl="1">
              <a:lnSpc>
                <a:spcPct val="80000"/>
              </a:lnSpc>
              <a:buFontTx/>
              <a:buNone/>
              <a:defRPr/>
            </a:pPr>
            <a:endParaRPr lang="en-GB" dirty="0"/>
          </a:p>
          <a:p>
            <a:pPr lvl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GB" dirty="0"/>
              <a:t>At </a:t>
            </a:r>
            <a:r>
              <a:rPr lang="en-GB" dirty="0" err="1"/>
              <a:t>forstå</a:t>
            </a:r>
            <a:r>
              <a:rPr lang="en-GB" dirty="0"/>
              <a:t> </a:t>
            </a:r>
            <a:r>
              <a:rPr lang="en-GB" b="1" dirty="0" err="1">
                <a:solidFill>
                  <a:srgbClr val="E46C0A"/>
                </a:solidFill>
              </a:rPr>
              <a:t>ledelsesteori</a:t>
            </a:r>
            <a:r>
              <a:rPr lang="en-GB" dirty="0"/>
              <a:t> </a:t>
            </a:r>
          </a:p>
          <a:p>
            <a:pPr lvl="1">
              <a:lnSpc>
                <a:spcPct val="80000"/>
              </a:lnSpc>
              <a:buFontTx/>
              <a:buNone/>
              <a:defRPr/>
            </a:pPr>
            <a:endParaRPr lang="en-GB" dirty="0"/>
          </a:p>
          <a:p>
            <a:pPr lvl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GB" dirty="0"/>
              <a:t> At </a:t>
            </a:r>
            <a:r>
              <a:rPr lang="en-GB" dirty="0" err="1"/>
              <a:t>forstå</a:t>
            </a:r>
            <a:r>
              <a:rPr lang="en-GB" dirty="0"/>
              <a:t> </a:t>
            </a:r>
            <a:r>
              <a:rPr lang="en-GB" dirty="0" err="1"/>
              <a:t>samspillet</a:t>
            </a:r>
            <a:r>
              <a:rPr lang="en-GB" dirty="0"/>
              <a:t> for </a:t>
            </a:r>
            <a:r>
              <a:rPr lang="en-GB" b="1" dirty="0" err="1">
                <a:solidFill>
                  <a:srgbClr val="E46C0A"/>
                </a:solidFill>
              </a:rPr>
              <a:t>individet</a:t>
            </a:r>
            <a:r>
              <a:rPr lang="en-GB" b="1" dirty="0">
                <a:solidFill>
                  <a:srgbClr val="E46C0A"/>
                </a:solidFill>
              </a:rPr>
              <a:t> </a:t>
            </a:r>
            <a:r>
              <a:rPr lang="en-GB" dirty="0" err="1"/>
              <a:t>såvel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b="1" dirty="0">
                <a:solidFill>
                  <a:srgbClr val="E46C0A"/>
                </a:solidFill>
              </a:rPr>
              <a:t>Teams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organisationen</a:t>
            </a:r>
            <a:endParaRPr lang="en-GB" dirty="0"/>
          </a:p>
          <a:p>
            <a:pPr lvl="1">
              <a:lnSpc>
                <a:spcPct val="80000"/>
              </a:lnSpc>
              <a:buFontTx/>
              <a:buNone/>
              <a:defRPr/>
            </a:pPr>
            <a:endParaRPr lang="en-GB" dirty="0"/>
          </a:p>
          <a:p>
            <a:pPr lvl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GB" dirty="0"/>
              <a:t>At </a:t>
            </a:r>
            <a:r>
              <a:rPr lang="en-GB" dirty="0" err="1"/>
              <a:t>forstå</a:t>
            </a:r>
            <a:r>
              <a:rPr lang="en-GB" dirty="0"/>
              <a:t> </a:t>
            </a:r>
            <a:r>
              <a:rPr lang="en-GB" dirty="0" err="1"/>
              <a:t>processerne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b="1" dirty="0" err="1">
                <a:solidFill>
                  <a:srgbClr val="E46C0A"/>
                </a:solidFill>
              </a:rPr>
              <a:t>ledelsesforandring</a:t>
            </a:r>
            <a:endParaRPr lang="en-GB" b="1" dirty="0">
              <a:solidFill>
                <a:srgbClr val="E46C0A"/>
              </a:solidFill>
            </a:endParaRPr>
          </a:p>
          <a:p>
            <a:pPr lvl="1">
              <a:lnSpc>
                <a:spcPct val="80000"/>
              </a:lnSpc>
              <a:buFont typeface="Arial" charset="0"/>
              <a:buChar char="–"/>
              <a:defRPr/>
            </a:pPr>
            <a:endParaRPr lang="en-GB" b="1" dirty="0">
              <a:solidFill>
                <a:srgbClr val="E46C0A"/>
              </a:solidFill>
            </a:endParaRPr>
          </a:p>
          <a:p>
            <a:pPr lvl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GB" b="1" u="sng" dirty="0">
                <a:solidFill>
                  <a:schemeClr val="accent5">
                    <a:lumMod val="50000"/>
                  </a:schemeClr>
                </a:solidFill>
              </a:rPr>
              <a:t>AT </a:t>
            </a:r>
            <a:r>
              <a:rPr lang="en-GB" b="1" u="sng" dirty="0" err="1">
                <a:solidFill>
                  <a:schemeClr val="accent5">
                    <a:lumMod val="50000"/>
                  </a:schemeClr>
                </a:solidFill>
              </a:rPr>
              <a:t>Gøre</a:t>
            </a:r>
            <a:r>
              <a:rPr lang="en-GB" b="1" u="sng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b="1" u="sng" dirty="0" err="1">
                <a:solidFill>
                  <a:schemeClr val="accent5">
                    <a:lumMod val="50000"/>
                  </a:schemeClr>
                </a:solidFill>
              </a:rPr>
              <a:t>modellerne</a:t>
            </a:r>
            <a:r>
              <a:rPr lang="en-GB" b="1" u="sng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b="1" u="sng" dirty="0" err="1">
                <a:solidFill>
                  <a:schemeClr val="accent5">
                    <a:lumMod val="50000"/>
                  </a:schemeClr>
                </a:solidFill>
              </a:rPr>
              <a:t>til</a:t>
            </a:r>
            <a:r>
              <a:rPr lang="en-GB" b="1" u="sng" dirty="0">
                <a:solidFill>
                  <a:schemeClr val="accent5">
                    <a:lumMod val="50000"/>
                  </a:schemeClr>
                </a:solidFill>
              </a:rPr>
              <a:t> et </a:t>
            </a:r>
            <a:r>
              <a:rPr lang="en-GB" b="1" u="sng" dirty="0" err="1">
                <a:solidFill>
                  <a:schemeClr val="accent5">
                    <a:lumMod val="50000"/>
                  </a:schemeClr>
                </a:solidFill>
              </a:rPr>
              <a:t>aktivt</a:t>
            </a:r>
            <a:r>
              <a:rPr lang="en-GB" b="1" u="sng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b="1" u="sng" dirty="0" err="1">
                <a:solidFill>
                  <a:schemeClr val="accent5">
                    <a:lumMod val="50000"/>
                  </a:schemeClr>
                </a:solidFill>
              </a:rPr>
              <a:t>værktøj</a:t>
            </a:r>
            <a:endParaRPr lang="en-GB" b="1" u="sng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Font typeface="Arial" charset="0"/>
              <a:buChar char="•"/>
              <a:defRPr/>
            </a:pPr>
            <a:endParaRPr lang="en-US" sz="2400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5789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85724" y="0"/>
            <a:ext cx="10429875" cy="1325563"/>
          </a:xfrm>
        </p:spPr>
        <p:txBody>
          <a:bodyPr/>
          <a:lstStyle/>
          <a:p>
            <a:r>
              <a:rPr lang="da-DK" dirty="0">
                <a:solidFill>
                  <a:srgbClr val="7030A0"/>
                </a:solidFill>
                <a:latin typeface="Arial Black" panose="020B0A04020102020204" pitchFamily="34" charset="0"/>
              </a:rPr>
              <a:t>Semesterplan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543232" y="1325563"/>
            <a:ext cx="1123659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chemeClr val="bg1"/>
                </a:solidFill>
              </a:rPr>
              <a:t>Introduktion/ Organisation og omverden/ Organisationsteorier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rgbClr val="0000FF"/>
                </a:solidFill>
              </a:rPr>
              <a:t>Analyseredskaber og projekt/ Interessentanalyse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rgbClr val="0000FF"/>
                </a:solidFill>
              </a:rPr>
              <a:t>Aktivitetsdiagrammer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 err="1">
                <a:solidFill>
                  <a:srgbClr val="0000FF"/>
                </a:solidFill>
              </a:rPr>
              <a:t>Forretninggrundlag</a:t>
            </a:r>
            <a:r>
              <a:rPr lang="da-DK" sz="2800" b="1" dirty="0">
                <a:solidFill>
                  <a:srgbClr val="0000FF"/>
                </a:solidFill>
              </a:rPr>
              <a:t>/ Strategi/ SWOT-analyse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rgbClr val="0000FF"/>
                </a:solidFill>
              </a:rPr>
              <a:t>Organisationsformer/ </a:t>
            </a:r>
            <a:r>
              <a:rPr lang="da-DK" sz="2800" b="1" dirty="0" err="1">
                <a:solidFill>
                  <a:srgbClr val="0000FF"/>
                </a:solidFill>
              </a:rPr>
              <a:t>Risk</a:t>
            </a:r>
            <a:r>
              <a:rPr lang="da-DK" sz="2800" b="1">
                <a:solidFill>
                  <a:srgbClr val="0000FF"/>
                </a:solidFill>
              </a:rPr>
              <a:t> management</a:t>
            </a:r>
            <a:endParaRPr lang="da-DK" sz="2800" b="1" dirty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rgbClr val="0000FF"/>
                </a:solidFill>
              </a:rPr>
              <a:t>Individet og organisationen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rgbClr val="0000FF"/>
                </a:solidFill>
              </a:rPr>
              <a:t>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rgbClr val="0000FF"/>
                </a:solidFill>
              </a:rPr>
              <a:t>Ledelse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rgbClr val="0000FF"/>
                </a:solidFill>
              </a:rPr>
              <a:t>Entreprenørskab, innovation og kultur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rgbClr val="0000FF"/>
                </a:solidFill>
              </a:rPr>
              <a:t>Projektledelse</a:t>
            </a:r>
          </a:p>
        </p:txBody>
      </p:sp>
    </p:spTree>
    <p:extLst>
      <p:ext uri="{BB962C8B-B14F-4D97-AF65-F5344CB8AC3E}">
        <p14:creationId xmlns:p14="http://schemas.microsoft.com/office/powerpoint/2010/main" val="32969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641" y="1915910"/>
            <a:ext cx="7964965" cy="233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196753"/>
            <a:ext cx="7568670" cy="427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38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1" y="1199933"/>
            <a:ext cx="9365007" cy="468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4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913" y="692696"/>
            <a:ext cx="7853507" cy="510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1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188640"/>
            <a:ext cx="7041864" cy="59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7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851" y="836712"/>
            <a:ext cx="7544853" cy="464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6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337" y="1363370"/>
            <a:ext cx="7934957" cy="36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7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180" y="692697"/>
            <a:ext cx="7339085" cy="513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454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9" y="764704"/>
            <a:ext cx="8002117" cy="510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28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908720"/>
            <a:ext cx="7523896" cy="469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5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D8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4294967295"/>
          </p:nvPr>
        </p:nvSpPr>
        <p:spPr>
          <a:xfrm>
            <a:off x="374073" y="1124744"/>
            <a:ext cx="10673542" cy="5112568"/>
          </a:xfrm>
        </p:spPr>
        <p:txBody>
          <a:bodyPr>
            <a:normAutofit/>
          </a:bodyPr>
          <a:lstStyle/>
          <a:p>
            <a:pPr marL="457200" indent="-457200"/>
            <a:r>
              <a:rPr lang="da-DK" sz="2400" b="1" dirty="0"/>
              <a:t>Hvad er en organisation?</a:t>
            </a:r>
            <a:br>
              <a:rPr lang="da-DK" sz="2400" b="1" dirty="0"/>
            </a:br>
            <a:endParaRPr lang="da-DK" sz="2400" b="1" dirty="0"/>
          </a:p>
          <a:p>
            <a:pPr marL="457200" indent="-457200"/>
            <a:r>
              <a:rPr lang="da-DK" sz="2400" b="1" dirty="0"/>
              <a:t>Hvor er grænserne? Hvad definerer grænsen?</a:t>
            </a:r>
            <a:br>
              <a:rPr lang="da-DK" sz="2400" b="1" dirty="0"/>
            </a:br>
            <a:endParaRPr lang="da-DK" sz="2400" b="1" dirty="0"/>
          </a:p>
          <a:p>
            <a:pPr marL="457200" indent="-457200"/>
            <a:r>
              <a:rPr lang="da-DK" sz="2400" b="1" dirty="0"/>
              <a:t>Find eksempler på organisationer i din hverdag. </a:t>
            </a:r>
            <a:br>
              <a:rPr lang="da-DK" sz="2400" b="1" dirty="0"/>
            </a:br>
            <a:r>
              <a:rPr lang="da-DK" sz="2400" b="1" dirty="0"/>
              <a:t>Find eksempler hvor grænsen er flydende og eksempler på en skarp kant. Hvorfor er der forskelle? Hvem håndhæver dem?</a:t>
            </a:r>
          </a:p>
          <a:p>
            <a:endParaRPr lang="da-DK" dirty="0"/>
          </a:p>
          <a:p>
            <a:endParaRPr lang="da-DK" sz="2400" b="1" dirty="0">
              <a:solidFill>
                <a:srgbClr val="7030A0"/>
              </a:solidFill>
            </a:endParaRPr>
          </a:p>
          <a:p>
            <a:endParaRPr lang="da-DK" sz="2400" b="1" dirty="0">
              <a:solidFill>
                <a:srgbClr val="7030A0"/>
              </a:solidFill>
            </a:endParaRPr>
          </a:p>
          <a:p>
            <a:r>
              <a:rPr lang="da-DK" sz="2400" b="1" dirty="0">
                <a:solidFill>
                  <a:srgbClr val="7030A0"/>
                </a:solidFill>
              </a:rPr>
              <a:t>Refleksion: Er det vigtigt at definere og beskrive sin organisation? Hvorfor?</a:t>
            </a:r>
          </a:p>
          <a:p>
            <a:endParaRPr lang="da-DK" dirty="0"/>
          </a:p>
        </p:txBody>
      </p:sp>
      <p:sp>
        <p:nvSpPr>
          <p:cNvPr id="3" name="Tekstfelt 2"/>
          <p:cNvSpPr txBox="1"/>
          <p:nvPr/>
        </p:nvSpPr>
        <p:spPr>
          <a:xfrm>
            <a:off x="374073" y="111020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400" dirty="0">
                <a:solidFill>
                  <a:srgbClr val="7030A0"/>
                </a:solidFill>
                <a:latin typeface="Arial Black" panose="020B0A04020102020204" pitchFamily="34" charset="0"/>
              </a:rPr>
              <a:t>Øvelse</a:t>
            </a:r>
          </a:p>
        </p:txBody>
      </p:sp>
      <p:sp>
        <p:nvSpPr>
          <p:cNvPr id="5" name="Pladsholder til sidefod 3"/>
          <p:cNvSpPr txBox="1">
            <a:spLocks/>
          </p:cNvSpPr>
          <p:nvPr/>
        </p:nvSpPr>
        <p:spPr>
          <a:xfrm>
            <a:off x="6038334" y="6492875"/>
            <a:ext cx="615894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rgbClr val="0000FF"/>
                </a:solidFill>
                <a:latin typeface="Arial Black" panose="020B0A04020102020204" pitchFamily="34" charset="0"/>
              </a:rPr>
              <a:t>KEA</a:t>
            </a:r>
            <a:r>
              <a:rPr lang="da-DK" dirty="0">
                <a:solidFill>
                  <a:srgbClr val="0000FF"/>
                </a:solidFill>
              </a:rPr>
              <a:t>   -  Københavns </a:t>
            </a:r>
            <a:r>
              <a:rPr lang="da-DK" dirty="0" err="1">
                <a:solidFill>
                  <a:srgbClr val="0000FF"/>
                </a:solidFill>
              </a:rPr>
              <a:t>ErhvervsAkademi</a:t>
            </a:r>
            <a:r>
              <a:rPr lang="da-DK" dirty="0">
                <a:solidFill>
                  <a:srgbClr val="0000FF"/>
                </a:solidFill>
              </a:rPr>
              <a:t> // James Hindsgavl Brink // James.brink@gmx.com</a:t>
            </a:r>
          </a:p>
        </p:txBody>
      </p:sp>
    </p:spTree>
    <p:extLst>
      <p:ext uri="{BB962C8B-B14F-4D97-AF65-F5344CB8AC3E}">
        <p14:creationId xmlns:p14="http://schemas.microsoft.com/office/powerpoint/2010/main" val="1821719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7" y="1844825"/>
            <a:ext cx="7862081" cy="237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8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7" y="188641"/>
            <a:ext cx="7842075" cy="600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84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99" y="1925241"/>
            <a:ext cx="7960678" cy="259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9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1566000"/>
            <a:ext cx="7900662" cy="323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24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1412776"/>
            <a:ext cx="7922096" cy="375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31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055" y="688279"/>
            <a:ext cx="7744906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5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5" y="404664"/>
            <a:ext cx="7673459" cy="5118497"/>
          </a:xfrm>
          <a:prstGeom prst="rect">
            <a:avLst/>
          </a:prstGeom>
        </p:spPr>
      </p:pic>
      <p:pic>
        <p:nvPicPr>
          <p:cNvPr id="3" name="Billed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9" y="5523161"/>
            <a:ext cx="79544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54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5" y="1941426"/>
            <a:ext cx="7570575" cy="260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16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792" y="1124742"/>
            <a:ext cx="7783012" cy="421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80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6" y="188640"/>
            <a:ext cx="7135221" cy="593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54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752" y="260649"/>
            <a:ext cx="5354750" cy="596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62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734" y="213792"/>
            <a:ext cx="6775126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09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9" y="1340768"/>
            <a:ext cx="7261921" cy="37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31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829" y="260649"/>
            <a:ext cx="7275258" cy="598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80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86" y="707924"/>
            <a:ext cx="9081930" cy="430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52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209" y="188640"/>
            <a:ext cx="7862080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61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D8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4294967295"/>
          </p:nvPr>
        </p:nvSpPr>
        <p:spPr>
          <a:xfrm>
            <a:off x="283992" y="840792"/>
            <a:ext cx="11631561" cy="5932598"/>
          </a:xfrm>
        </p:spPr>
        <p:txBody>
          <a:bodyPr/>
          <a:lstStyle/>
          <a:p>
            <a:r>
              <a:rPr lang="da-DK" sz="2000" dirty="0"/>
              <a:t>Den </a:t>
            </a:r>
            <a:r>
              <a:rPr lang="da-DK" sz="2000" b="1" dirty="0">
                <a:solidFill>
                  <a:srgbClr val="7030A0"/>
                </a:solidFill>
              </a:rPr>
              <a:t>Klassiske</a:t>
            </a:r>
            <a:r>
              <a:rPr lang="da-DK" sz="2000" dirty="0">
                <a:solidFill>
                  <a:srgbClr val="7030A0"/>
                </a:solidFill>
              </a:rPr>
              <a:t> </a:t>
            </a:r>
            <a:r>
              <a:rPr lang="da-DK" sz="2000" b="1" dirty="0">
                <a:solidFill>
                  <a:srgbClr val="7030A0"/>
                </a:solidFill>
              </a:rPr>
              <a:t>Organisationsteori</a:t>
            </a:r>
            <a:r>
              <a:rPr lang="da-DK" sz="2000" dirty="0">
                <a:solidFill>
                  <a:srgbClr val="7030A0"/>
                </a:solidFill>
              </a:rPr>
              <a:t> </a:t>
            </a:r>
            <a:r>
              <a:rPr lang="da-DK" sz="2000" dirty="0"/>
              <a:t>består af:</a:t>
            </a:r>
            <a:br>
              <a:rPr lang="da-DK" sz="2000" dirty="0"/>
            </a:br>
            <a:r>
              <a:rPr lang="da-DK" sz="2000" dirty="0"/>
              <a:t>	</a:t>
            </a:r>
            <a:r>
              <a:rPr lang="da-DK" sz="2000" b="1" dirty="0">
                <a:solidFill>
                  <a:srgbClr val="002060"/>
                </a:solidFill>
              </a:rPr>
              <a:t>Den Bureaukratiske skole</a:t>
            </a:r>
            <a:br>
              <a:rPr lang="da-DK" sz="2000" b="1" dirty="0">
                <a:solidFill>
                  <a:srgbClr val="002060"/>
                </a:solidFill>
              </a:rPr>
            </a:br>
            <a:r>
              <a:rPr lang="da-DK" sz="2000" b="1" dirty="0">
                <a:solidFill>
                  <a:srgbClr val="002060"/>
                </a:solidFill>
              </a:rPr>
              <a:t>	Den Administrative skole</a:t>
            </a:r>
            <a:br>
              <a:rPr lang="da-DK" sz="2000" b="1" dirty="0">
                <a:solidFill>
                  <a:srgbClr val="002060"/>
                </a:solidFill>
              </a:rPr>
            </a:br>
            <a:r>
              <a:rPr lang="da-DK" sz="2000" b="1" dirty="0">
                <a:solidFill>
                  <a:srgbClr val="002060"/>
                </a:solidFill>
              </a:rPr>
              <a:t>	Den Videnskabelige skole</a:t>
            </a:r>
            <a:br>
              <a:rPr lang="da-DK" sz="2000" b="1" dirty="0">
                <a:solidFill>
                  <a:srgbClr val="002060"/>
                </a:solidFill>
              </a:rPr>
            </a:br>
            <a:r>
              <a:rPr lang="da-DK" sz="2000" dirty="0"/>
              <a:t>Diskutér værdier og menneskesyn, hvad er denne skoles formål?</a:t>
            </a:r>
            <a:br>
              <a:rPr lang="da-DK" sz="2000" dirty="0"/>
            </a:br>
            <a:endParaRPr lang="da-DK" sz="2000" dirty="0"/>
          </a:p>
          <a:p>
            <a:r>
              <a:rPr lang="da-DK" sz="2000" b="1" dirty="0">
                <a:solidFill>
                  <a:srgbClr val="7030A0"/>
                </a:solidFill>
              </a:rPr>
              <a:t>Human </a:t>
            </a:r>
            <a:r>
              <a:rPr lang="da-DK" sz="2000" b="1" dirty="0" err="1">
                <a:solidFill>
                  <a:srgbClr val="7030A0"/>
                </a:solidFill>
              </a:rPr>
              <a:t>Relationsteori</a:t>
            </a:r>
            <a:r>
              <a:rPr lang="da-DK" sz="2000" b="1" dirty="0">
                <a:solidFill>
                  <a:srgbClr val="7030A0"/>
                </a:solidFill>
              </a:rPr>
              <a:t> </a:t>
            </a:r>
            <a:r>
              <a:rPr lang="da-DK" sz="2000" dirty="0"/>
              <a:t>består af:</a:t>
            </a:r>
            <a:br>
              <a:rPr lang="da-DK" sz="2000" dirty="0"/>
            </a:br>
            <a:r>
              <a:rPr lang="da-DK" sz="2000" dirty="0"/>
              <a:t>	</a:t>
            </a:r>
            <a:r>
              <a:rPr lang="da-DK" sz="2000" b="1" dirty="0">
                <a:solidFill>
                  <a:srgbClr val="002060"/>
                </a:solidFill>
              </a:rPr>
              <a:t>Den Humanistiske skole</a:t>
            </a:r>
            <a:br>
              <a:rPr lang="da-DK" sz="2000" b="1" dirty="0">
                <a:solidFill>
                  <a:srgbClr val="002060"/>
                </a:solidFill>
              </a:rPr>
            </a:br>
            <a:r>
              <a:rPr lang="da-DK" sz="2000" b="1" dirty="0">
                <a:solidFill>
                  <a:srgbClr val="002060"/>
                </a:solidFill>
              </a:rPr>
              <a:t>	Motivationsteori</a:t>
            </a:r>
            <a:br>
              <a:rPr lang="da-DK" sz="2000" b="1" dirty="0">
                <a:solidFill>
                  <a:srgbClr val="002060"/>
                </a:solidFill>
              </a:rPr>
            </a:br>
            <a:r>
              <a:rPr lang="da-DK" sz="2000" b="1" dirty="0">
                <a:solidFill>
                  <a:srgbClr val="002060"/>
                </a:solidFill>
              </a:rPr>
              <a:t>	Trivselsteori</a:t>
            </a:r>
            <a:br>
              <a:rPr lang="da-DK" sz="2000" dirty="0"/>
            </a:br>
            <a:r>
              <a:rPr lang="da-DK" sz="2000" dirty="0"/>
              <a:t>Diskutér værdier og menneskesyn, Hvad er målet her?</a:t>
            </a:r>
          </a:p>
          <a:p>
            <a:endParaRPr lang="da-DK" sz="2000" dirty="0"/>
          </a:p>
          <a:p>
            <a:r>
              <a:rPr lang="da-DK" sz="2000" dirty="0"/>
              <a:t>Teorier og modeller blandes i dag, f.eks. Er NPM et godt eksempel på en organisationsform der henvender sig til de </a:t>
            </a:r>
            <a:r>
              <a:rPr lang="da-DK" sz="2000" dirty="0" err="1"/>
              <a:t>administative</a:t>
            </a:r>
            <a:r>
              <a:rPr lang="da-DK" sz="2000" dirty="0"/>
              <a:t> led, ikke </a:t>
            </a:r>
            <a:r>
              <a:rPr lang="da-DK" sz="2000" dirty="0" err="1"/>
              <a:t>nødevendigvis</a:t>
            </a:r>
            <a:r>
              <a:rPr lang="da-DK" sz="2000" dirty="0"/>
              <a:t> den faglighed der foregår. Diskuter fordele og ulemper ved sådanne blandinger.</a:t>
            </a:r>
          </a:p>
          <a:p>
            <a:pPr marL="0" indent="0">
              <a:buNone/>
            </a:pPr>
            <a:endParaRPr lang="da-DK" sz="2000" dirty="0"/>
          </a:p>
          <a:p>
            <a:pPr marL="0" indent="0">
              <a:buNone/>
            </a:pPr>
            <a:r>
              <a:rPr lang="da-DK" sz="2000" b="1" dirty="0">
                <a:solidFill>
                  <a:srgbClr val="7030A0"/>
                </a:solidFill>
              </a:rPr>
              <a:t>Refleksion: Er det vigtigt at definere og beskrive sin organisation? Hvorfor? Hvordan vekselvirker teori og virkelighed?</a:t>
            </a:r>
          </a:p>
          <a:p>
            <a:endParaRPr lang="da-DK" dirty="0"/>
          </a:p>
        </p:txBody>
      </p:sp>
      <p:sp>
        <p:nvSpPr>
          <p:cNvPr id="3" name="Tekstfelt 2"/>
          <p:cNvSpPr txBox="1"/>
          <p:nvPr/>
        </p:nvSpPr>
        <p:spPr>
          <a:xfrm>
            <a:off x="283992" y="39329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400" dirty="0">
                <a:solidFill>
                  <a:srgbClr val="7030A0"/>
                </a:solidFill>
                <a:latin typeface="Arial Black" panose="020B0A04020102020204" pitchFamily="34" charset="0"/>
              </a:rPr>
              <a:t>Øvelse</a:t>
            </a:r>
          </a:p>
        </p:txBody>
      </p:sp>
      <p:sp>
        <p:nvSpPr>
          <p:cNvPr id="4" name="Pladsholder til sidefod 3"/>
          <p:cNvSpPr txBox="1">
            <a:spLocks/>
          </p:cNvSpPr>
          <p:nvPr/>
        </p:nvSpPr>
        <p:spPr>
          <a:xfrm>
            <a:off x="6038334" y="6492875"/>
            <a:ext cx="615894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rgbClr val="0000FF"/>
                </a:solidFill>
                <a:latin typeface="Arial Black" panose="020B0A04020102020204" pitchFamily="34" charset="0"/>
              </a:rPr>
              <a:t>KEA</a:t>
            </a:r>
            <a:r>
              <a:rPr lang="da-DK" dirty="0">
                <a:solidFill>
                  <a:srgbClr val="0000FF"/>
                </a:solidFill>
              </a:rPr>
              <a:t>   -  Københavns </a:t>
            </a:r>
            <a:r>
              <a:rPr lang="da-DK" dirty="0" err="1">
                <a:solidFill>
                  <a:srgbClr val="0000FF"/>
                </a:solidFill>
              </a:rPr>
              <a:t>ErhvervsAkademi</a:t>
            </a:r>
            <a:r>
              <a:rPr lang="da-DK" dirty="0">
                <a:solidFill>
                  <a:srgbClr val="0000FF"/>
                </a:solidFill>
              </a:rPr>
              <a:t> // James Hindsgavl Brink // James.brink@gmx.com</a:t>
            </a:r>
          </a:p>
        </p:txBody>
      </p:sp>
    </p:spTree>
    <p:extLst>
      <p:ext uri="{BB962C8B-B14F-4D97-AF65-F5344CB8AC3E}">
        <p14:creationId xmlns:p14="http://schemas.microsoft.com/office/powerpoint/2010/main" val="2274481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0" y="0"/>
            <a:ext cx="11087100" cy="884903"/>
          </a:xfrm>
        </p:spPr>
        <p:txBody>
          <a:bodyPr>
            <a:normAutofit/>
          </a:bodyPr>
          <a:lstStyle/>
          <a:p>
            <a:pPr algn="l"/>
            <a:r>
              <a:rPr lang="da-DK" sz="4800" b="1" dirty="0">
                <a:solidFill>
                  <a:srgbClr val="7030A0"/>
                </a:solidFill>
                <a:latin typeface="Arial Black" panose="020B0A04020102020204" pitchFamily="34" charset="0"/>
              </a:rPr>
              <a:t>Resumé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209551" y="1002889"/>
            <a:ext cx="11874293" cy="5506065"/>
          </a:xfrm>
        </p:spPr>
        <p:txBody>
          <a:bodyPr>
            <a:normAutofit lnSpcReduction="10000"/>
          </a:bodyPr>
          <a:lstStyle/>
          <a:p>
            <a:pPr lvl="1" algn="l">
              <a:lnSpc>
                <a:spcPct val="80000"/>
              </a:lnSpc>
            </a:pPr>
            <a:r>
              <a:rPr lang="en-US" altLang="da-DK" sz="2400" b="1" dirty="0">
                <a:solidFill>
                  <a:srgbClr val="339933"/>
                </a:solidFill>
              </a:rPr>
              <a:t>Classical theorists</a:t>
            </a:r>
            <a:r>
              <a:rPr lang="en-US" altLang="da-DK" sz="2400" b="1" dirty="0"/>
              <a:t> </a:t>
            </a:r>
            <a:r>
              <a:rPr lang="en-US" altLang="da-DK" sz="2400" dirty="0"/>
              <a:t>saw their rational principles as the </a:t>
            </a:r>
            <a:r>
              <a:rPr lang="ja-JP" altLang="en-US" sz="2400" b="1" dirty="0">
                <a:solidFill>
                  <a:srgbClr val="339933"/>
                </a:solidFill>
                <a:latin typeface="Arial" panose="020B0604020202020204" pitchFamily="34" charset="0"/>
              </a:rPr>
              <a:t>“</a:t>
            </a:r>
            <a:r>
              <a:rPr lang="en-US" altLang="ja-JP" sz="2400" b="1" dirty="0">
                <a:solidFill>
                  <a:srgbClr val="339933"/>
                </a:solidFill>
              </a:rPr>
              <a:t>one best  way</a:t>
            </a:r>
            <a:r>
              <a:rPr lang="ja-JP" altLang="en-US" sz="2400" b="1" dirty="0">
                <a:solidFill>
                  <a:srgbClr val="339933"/>
                </a:solidFill>
                <a:latin typeface="Arial" panose="020B0604020202020204" pitchFamily="34" charset="0"/>
              </a:rPr>
              <a:t>”</a:t>
            </a:r>
            <a:r>
              <a:rPr lang="en-US" altLang="ja-JP" sz="2400" dirty="0"/>
              <a:t> to design and manage organizations</a:t>
            </a:r>
          </a:p>
          <a:p>
            <a:pPr lvl="1" algn="l">
              <a:lnSpc>
                <a:spcPct val="80000"/>
              </a:lnSpc>
            </a:pPr>
            <a:endParaRPr lang="en-US" altLang="da-DK" sz="2400" dirty="0"/>
          </a:p>
          <a:p>
            <a:pPr lvl="1" algn="l">
              <a:lnSpc>
                <a:spcPct val="80000"/>
              </a:lnSpc>
            </a:pPr>
            <a:r>
              <a:rPr lang="en-US" altLang="da-DK" sz="2400" b="1" dirty="0">
                <a:solidFill>
                  <a:srgbClr val="990000"/>
                </a:solidFill>
              </a:rPr>
              <a:t>Scientific management</a:t>
            </a:r>
            <a:r>
              <a:rPr lang="en-US" altLang="da-DK" sz="2400" b="1" dirty="0"/>
              <a:t> </a:t>
            </a:r>
            <a:r>
              <a:rPr lang="en-US" altLang="da-DK" sz="2400" dirty="0"/>
              <a:t>focused on job design, the human element of the work was overlooked</a:t>
            </a:r>
          </a:p>
          <a:p>
            <a:pPr lvl="1" algn="l">
              <a:lnSpc>
                <a:spcPct val="80000"/>
              </a:lnSpc>
            </a:pPr>
            <a:endParaRPr lang="en-US" altLang="da-DK" sz="2400" dirty="0"/>
          </a:p>
          <a:p>
            <a:pPr lvl="1" algn="l">
              <a:lnSpc>
                <a:spcPct val="80000"/>
              </a:lnSpc>
            </a:pPr>
            <a:r>
              <a:rPr lang="en-US" altLang="da-DK" sz="2400" b="1" dirty="0">
                <a:solidFill>
                  <a:srgbClr val="604A7B"/>
                </a:solidFill>
              </a:rPr>
              <a:t>Human relation theories </a:t>
            </a:r>
            <a:r>
              <a:rPr lang="en-US" altLang="da-DK" sz="2400" dirty="0"/>
              <a:t>recognizes that people have a complex set of needs and that they seek to satisfy many of these needs at work</a:t>
            </a:r>
          </a:p>
          <a:p>
            <a:pPr lvl="1" algn="l">
              <a:lnSpc>
                <a:spcPct val="80000"/>
              </a:lnSpc>
            </a:pPr>
            <a:endParaRPr lang="en-US" altLang="da-DK" sz="2400" dirty="0"/>
          </a:p>
          <a:p>
            <a:pPr lvl="1" algn="l">
              <a:lnSpc>
                <a:spcPct val="80000"/>
              </a:lnSpc>
            </a:pPr>
            <a:r>
              <a:rPr lang="en-US" altLang="da-DK" sz="2400" b="1" dirty="0">
                <a:solidFill>
                  <a:srgbClr val="984807"/>
                </a:solidFill>
              </a:rPr>
              <a:t>Contingent factors </a:t>
            </a:r>
            <a:r>
              <a:rPr lang="en-US" altLang="da-DK" sz="2400" dirty="0"/>
              <a:t>influence structure and management of organizations. The idea of </a:t>
            </a:r>
            <a:r>
              <a:rPr lang="ja-JP" altLang="en-US" sz="2400" i="1" dirty="0">
                <a:latin typeface="Arial" panose="020B0604020202020204" pitchFamily="34" charset="0"/>
              </a:rPr>
              <a:t>“</a:t>
            </a:r>
            <a:r>
              <a:rPr lang="en-US" altLang="ja-JP" sz="2400" i="1" dirty="0"/>
              <a:t>one best way</a:t>
            </a:r>
            <a:r>
              <a:rPr lang="ja-JP" altLang="en-US" sz="2400" i="1" dirty="0">
                <a:latin typeface="Arial" panose="020B0604020202020204" pitchFamily="34" charset="0"/>
              </a:rPr>
              <a:t>”</a:t>
            </a:r>
            <a:r>
              <a:rPr lang="en-US" altLang="ja-JP" sz="2400" dirty="0"/>
              <a:t> is rejected</a:t>
            </a:r>
          </a:p>
          <a:p>
            <a:pPr algn="l">
              <a:lnSpc>
                <a:spcPct val="80000"/>
              </a:lnSpc>
            </a:pPr>
            <a:endParaRPr lang="en-US" altLang="da-DK" dirty="0"/>
          </a:p>
          <a:p>
            <a:pPr algn="l">
              <a:lnSpc>
                <a:spcPct val="80000"/>
              </a:lnSpc>
            </a:pPr>
            <a:endParaRPr lang="en-US" altLang="da-DK" dirty="0"/>
          </a:p>
          <a:p>
            <a:pPr algn="l">
              <a:lnSpc>
                <a:spcPct val="80000"/>
              </a:lnSpc>
            </a:pPr>
            <a:endParaRPr lang="en-US" altLang="da-DK" dirty="0"/>
          </a:p>
          <a:p>
            <a:pPr algn="l">
              <a:lnSpc>
                <a:spcPct val="80000"/>
              </a:lnSpc>
            </a:pPr>
            <a:r>
              <a:rPr lang="en-US" altLang="da-DK" dirty="0">
                <a:solidFill>
                  <a:srgbClr val="376092"/>
                </a:solidFill>
              </a:rPr>
              <a:t>Organizations can be seen in different ways</a:t>
            </a:r>
            <a:r>
              <a:rPr lang="en-US" altLang="da-DK" dirty="0">
                <a:solidFill>
                  <a:schemeClr val="bg2"/>
                </a:solidFill>
              </a:rPr>
              <a:t>.</a:t>
            </a:r>
            <a:r>
              <a:rPr lang="en-US" altLang="da-DK" dirty="0"/>
              <a:t> The chosen perspective influences our understanding of the management of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446028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-103600" y="3484547"/>
            <a:ext cx="9422964" cy="2680570"/>
          </a:xfrm>
          <a:prstGeom prst="ellipse">
            <a:avLst/>
          </a:prstGeom>
          <a:solidFill>
            <a:srgbClr val="FFFF00">
              <a:alpha val="40000"/>
            </a:srgbClr>
          </a:solidFill>
          <a:ln w="22225">
            <a:solidFill>
              <a:srgbClr val="FF0000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0" y="0"/>
            <a:ext cx="12083845" cy="1000125"/>
          </a:xfrm>
        </p:spPr>
        <p:txBody>
          <a:bodyPr>
            <a:normAutofit/>
          </a:bodyPr>
          <a:lstStyle/>
          <a:p>
            <a:pPr algn="l"/>
            <a:r>
              <a:rPr lang="da-DK" sz="4800" b="1">
                <a:latin typeface="Arial Black" panose="020B0A04020102020204" pitchFamily="34" charset="0"/>
              </a:rPr>
              <a:t>ITO-1</a:t>
            </a:r>
            <a:r>
              <a:rPr lang="da-DK" sz="4800" b="1" dirty="0">
                <a:latin typeface="Arial Black" panose="020B0A04020102020204" pitchFamily="34" charset="0"/>
              </a:rPr>
              <a:t>	     		</a:t>
            </a:r>
            <a:r>
              <a:rPr lang="da-DK" sz="4800" b="1">
                <a:latin typeface="Arial Black" panose="020B0A04020102020204" pitchFamily="34" charset="0"/>
              </a:rPr>
              <a:t>   				   modul </a:t>
            </a:r>
            <a:r>
              <a:rPr lang="da-DK" sz="4800" b="1" dirty="0"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371474" y="1762124"/>
            <a:ext cx="9046845" cy="4505672"/>
          </a:xfrm>
        </p:spPr>
        <p:txBody>
          <a:bodyPr>
            <a:normAutofit/>
          </a:bodyPr>
          <a:lstStyle/>
          <a:p>
            <a:pPr algn="l"/>
            <a:r>
              <a:rPr lang="da-DK" b="1" dirty="0">
                <a:solidFill>
                  <a:srgbClr val="002060"/>
                </a:solidFill>
              </a:rPr>
              <a:t>Læringsmål:</a:t>
            </a:r>
          </a:p>
          <a:p>
            <a:pPr algn="l"/>
            <a:r>
              <a:rPr lang="da-DK" dirty="0"/>
              <a:t>Analyseredskaber og projektstyring</a:t>
            </a:r>
          </a:p>
          <a:p>
            <a:pPr algn="l"/>
            <a:r>
              <a:rPr lang="da-DK" dirty="0"/>
              <a:t>Interessentanalyse</a:t>
            </a:r>
          </a:p>
          <a:p>
            <a:pPr algn="l"/>
            <a:r>
              <a:rPr lang="da-DK" dirty="0" err="1"/>
              <a:t>Risk</a:t>
            </a:r>
            <a:r>
              <a:rPr lang="da-DK" dirty="0"/>
              <a:t> management</a:t>
            </a:r>
          </a:p>
          <a:p>
            <a:pPr algn="l"/>
            <a:endParaRPr lang="da-DK" dirty="0"/>
          </a:p>
          <a:p>
            <a:pPr algn="l"/>
            <a:r>
              <a:rPr lang="da-DK" b="1" dirty="0">
                <a:solidFill>
                  <a:srgbClr val="002060"/>
                </a:solidFill>
              </a:rPr>
              <a:t>Litteratur:</a:t>
            </a:r>
          </a:p>
          <a:p>
            <a:pPr algn="l"/>
            <a:r>
              <a:rPr lang="da-DK" dirty="0"/>
              <a:t>Lars Zwisler: ”Projektledelse og projektstyring” s.49-71 (kopi)</a:t>
            </a:r>
            <a:br>
              <a:rPr lang="da-DK" dirty="0"/>
            </a:br>
            <a:r>
              <a:rPr lang="en-US" dirty="0" err="1"/>
              <a:t>Kastner</a:t>
            </a:r>
            <a:r>
              <a:rPr lang="en-US" dirty="0"/>
              <a:t>: “Why Projects Succeed – Proactive Risk Management” (copy) </a:t>
            </a:r>
            <a:r>
              <a:rPr lang="en-US" dirty="0" err="1"/>
              <a:t>Skriver</a:t>
            </a:r>
            <a:r>
              <a:rPr lang="en-US" dirty="0"/>
              <a:t> kap4 s.130-134!</a:t>
            </a:r>
            <a:endParaRPr lang="da-DK" dirty="0"/>
          </a:p>
        </p:txBody>
      </p:sp>
      <p:sp>
        <p:nvSpPr>
          <p:cNvPr id="6" name="Tekstfelt 5"/>
          <p:cNvSpPr txBox="1"/>
          <p:nvPr/>
        </p:nvSpPr>
        <p:spPr>
          <a:xfrm rot="1268266">
            <a:off x="3638586" y="2205071"/>
            <a:ext cx="9359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600" b="1" dirty="0">
                <a:solidFill>
                  <a:srgbClr val="FF0000"/>
                </a:solidFill>
              </a:rPr>
              <a:t>NÆSTE MODUL</a:t>
            </a:r>
          </a:p>
        </p:txBody>
      </p:sp>
    </p:spTree>
    <p:extLst>
      <p:ext uri="{BB962C8B-B14F-4D97-AF65-F5344CB8AC3E}">
        <p14:creationId xmlns:p14="http://schemas.microsoft.com/office/powerpoint/2010/main" val="1351941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676</Words>
  <Application>Microsoft Office PowerPoint</Application>
  <PresentationFormat>Widescreen</PresentationFormat>
  <Paragraphs>96</Paragraphs>
  <Slides>34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Arial Black</vt:lpstr>
      <vt:lpstr>Calibri</vt:lpstr>
      <vt:lpstr>Calibri Light</vt:lpstr>
      <vt:lpstr>Office-tema</vt:lpstr>
      <vt:lpstr>ITO-1                modul 01</vt:lpstr>
      <vt:lpstr>Hvorfor ITO?</vt:lpstr>
      <vt:lpstr>Læringsmål</vt:lpstr>
      <vt:lpstr>Semesterplan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Resumé</vt:lpstr>
      <vt:lpstr>ITO-1                  modul 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DAT18-B       ITO         modul 1/16</dc:title>
  <dc:creator>Windows-bruger</dc:creator>
  <cp:lastModifiedBy>Oskar Tuska</cp:lastModifiedBy>
  <cp:revision>34</cp:revision>
  <dcterms:created xsi:type="dcterms:W3CDTF">2018-08-20T14:15:56Z</dcterms:created>
  <dcterms:modified xsi:type="dcterms:W3CDTF">2026-02-18T12:27:59Z</dcterms:modified>
</cp:coreProperties>
</file>