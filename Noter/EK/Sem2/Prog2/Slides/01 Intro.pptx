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259" r:id="rId3"/>
    <p:sldId id="260" r:id="rId4"/>
    <p:sldId id="270" r:id="rId5"/>
    <p:sldId id="261" r:id="rId6"/>
    <p:sldId id="269" r:id="rId7"/>
    <p:sldId id="276" r:id="rId8"/>
    <p:sldId id="267" r:id="rId9"/>
    <p:sldId id="271" r:id="rId10"/>
    <p:sldId id="273" r:id="rId11"/>
    <p:sldId id="272" r:id="rId12"/>
    <p:sldId id="274" r:id="rId13"/>
    <p:sldId id="262" r:id="rId14"/>
    <p:sldId id="278" r:id="rId15"/>
    <p:sldId id="279" r:id="rId16"/>
    <p:sldId id="263" r:id="rId17"/>
    <p:sldId id="277" r:id="rId18"/>
    <p:sldId id="268" r:id="rId19"/>
    <p:sldId id="264" r:id="rId20"/>
  </p:sldIdLst>
  <p:sldSz cx="9144000" cy="6858000" type="screen4x3"/>
  <p:notesSz cx="6886575" cy="10018713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1015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0488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920AA4-B3DF-42AD-BF33-B1DB12D195ED}" type="datetimeFigureOut">
              <a:rPr lang="da-DK" smtClean="0"/>
              <a:t>21-08-2026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15476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0488" y="9515476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48C2F-CC79-4702-9155-D684939AF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36873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183" cy="50093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800" y="1"/>
            <a:ext cx="2984183" cy="50093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2F924A21-AAB0-4DD6-8A59-F7D44BAF5730}" type="datetimeFigureOut">
              <a:rPr lang="da-DK" smtClean="0"/>
              <a:t>21-08-2026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10150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758891"/>
            <a:ext cx="5509260" cy="4508421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6039"/>
            <a:ext cx="2984183" cy="500936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800" y="9516039"/>
            <a:ext cx="2984183" cy="500936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48DC3244-FBB7-441E-871D-FCE4FCF3B7D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2907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DC3244-FBB7-441E-871D-FCE4FCF3B7D2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0176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DC3244-FBB7-441E-871D-FCE4FCF3B7D2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782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9D1F-966E-490B-A7D0-FFF8B697861D}" type="datetime1">
              <a:rPr lang="da-DK" smtClean="0"/>
              <a:t>21-08-2026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6574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CB43-76A5-4C86-8206-BCC9C7C44BA4}" type="datetime1">
              <a:rPr lang="da-DK" smtClean="0"/>
              <a:t>21-08-2026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2919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2B5A8-CCBE-47A1-A379-C2E5FDC4F081}" type="datetime1">
              <a:rPr lang="da-DK" smtClean="0"/>
              <a:t>21-08-2026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584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D632-B1FD-43A7-85CE-80B9986CF930}" type="datetime1">
              <a:rPr lang="da-DK" smtClean="0"/>
              <a:t>21-08-2026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845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4A7D5-3297-4103-878B-97CB1D26F19D}" type="datetime1">
              <a:rPr lang="da-DK" smtClean="0"/>
              <a:t>21-08-2026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431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63F8-6CA8-4054-9555-5C710151F35B}" type="datetime1">
              <a:rPr lang="da-DK" smtClean="0"/>
              <a:t>21-08-2026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591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99FA7-34E4-4E4A-BD60-E80D7E503387}" type="datetime1">
              <a:rPr lang="da-DK" smtClean="0"/>
              <a:t>21-08-2026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573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FA140-028D-415B-82BA-15926341E814}" type="datetime1">
              <a:rPr lang="da-DK" smtClean="0"/>
              <a:t>21-08-2026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751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8DE9-008E-4814-BF68-42D64F84D909}" type="datetime1">
              <a:rPr lang="da-DK" smtClean="0"/>
              <a:t>21-08-2026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366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8CA93-D5B6-4831-8E62-D9E3BD13F2E1}" type="datetime1">
              <a:rPr lang="da-DK" smtClean="0"/>
              <a:t>21-08-2026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431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AD137-6E78-4551-BA44-49A3BCA94409}" type="datetime1">
              <a:rPr lang="da-DK" smtClean="0"/>
              <a:t>21-08-2026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7361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AE86F-2202-4B0E-81A6-3D002063E1EB}" type="datetime1">
              <a:rPr lang="da-DK" smtClean="0"/>
              <a:t>21-08-2026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F955-0D5E-4A0E-8C2D-B078D095E87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227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692150"/>
            <a:ext cx="7772400" cy="1470025"/>
          </a:xfrm>
        </p:spPr>
        <p:txBody>
          <a:bodyPr>
            <a:normAutofit/>
          </a:bodyPr>
          <a:lstStyle/>
          <a:p>
            <a:r>
              <a:rPr lang="en-GB" altLang="da-DK" b="1" dirty="0" err="1"/>
              <a:t>Programmering</a:t>
            </a:r>
            <a:r>
              <a:rPr lang="da-DK" altLang="da-DK" b="1" dirty="0"/>
              <a:t/>
            </a:r>
            <a:br>
              <a:rPr lang="da-DK" altLang="da-DK" b="1" dirty="0"/>
            </a:br>
            <a:r>
              <a:rPr lang="da-DK" altLang="da-DK" b="1" dirty="0" smtClean="0"/>
              <a:t>DAT-GBG-DA-F26A</a:t>
            </a:r>
            <a:endParaRPr lang="da-DK" altLang="da-DK" b="1" dirty="0"/>
          </a:p>
        </p:txBody>
      </p:sp>
      <p:pic>
        <p:nvPicPr>
          <p:cNvPr id="2051" name="Picture 2" descr="C:\Users\Bjørn\Desktop\IndexWelcom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492375"/>
            <a:ext cx="7200900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899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genda Stock-illustration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356992"/>
            <a:ext cx="4283039" cy="335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da-DK" dirty="0"/>
              <a:t>Dagens program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altLang="da-DK" dirty="0"/>
              <a:t>Præsentation af lærer og hjælpelærer</a:t>
            </a:r>
          </a:p>
          <a:p>
            <a:r>
              <a:rPr lang="da-DK" altLang="da-DK" dirty="0" err="1" smtClean="0"/>
              <a:t>itslearning</a:t>
            </a:r>
            <a:r>
              <a:rPr lang="da-DK" altLang="da-DK" dirty="0" smtClean="0"/>
              <a:t> </a:t>
            </a:r>
            <a:r>
              <a:rPr lang="da-DK" altLang="da-DK" dirty="0"/>
              <a:t>+ Semesterplan</a:t>
            </a:r>
          </a:p>
          <a:p>
            <a:r>
              <a:rPr lang="da-DK" altLang="da-DK" dirty="0" smtClean="0"/>
              <a:t>Studiegrupper</a:t>
            </a:r>
            <a:endParaRPr lang="da-DK" altLang="da-DK" dirty="0"/>
          </a:p>
          <a:p>
            <a:r>
              <a:rPr lang="da-DK" altLang="da-DK" dirty="0" smtClean="0"/>
              <a:t>Opgaver: Collections</a:t>
            </a:r>
            <a:endParaRPr lang="da-DK" altLang="da-DK" dirty="0"/>
          </a:p>
        </p:txBody>
      </p:sp>
      <p:sp>
        <p:nvSpPr>
          <p:cNvPr id="410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1C09A99C-992A-4B79-A59D-78BD0DD6382B}" type="slidenum">
              <a:rPr lang="da-DK" altLang="da-DK" sz="1200">
                <a:solidFill>
                  <a:srgbClr val="898989"/>
                </a:solidFill>
              </a:rPr>
              <a:pPr/>
              <a:t>2</a:t>
            </a:fld>
            <a:endParaRPr lang="da-DK" altLang="da-DK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13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6453" y="476672"/>
            <a:ext cx="6239544" cy="5112568"/>
          </a:xfrm>
        </p:spPr>
        <p:txBody>
          <a:bodyPr>
            <a:normAutofit fontScale="77500" lnSpcReduction="20000"/>
          </a:bodyPr>
          <a:lstStyle/>
          <a:p>
            <a:pPr marL="0" indent="0"/>
            <a:r>
              <a:rPr lang="da-DK" sz="2000" b="1" dirty="0">
                <a:latin typeface="Times New Roman" pitchFamily="18" charset="0"/>
                <a:cs typeface="Times New Roman" pitchFamily="18" charset="0"/>
              </a:rPr>
              <a:t> Uddannelse:</a:t>
            </a:r>
            <a:endParaRPr lang="da-DK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da-DK" sz="1900" dirty="0">
                <a:latin typeface="Times New Roman" pitchFamily="18" charset="0"/>
                <a:cs typeface="Times New Roman" pitchFamily="18" charset="0"/>
              </a:rPr>
              <a:t>Cand. </a:t>
            </a:r>
            <a:r>
              <a:rPr lang="da-DK" sz="1900" dirty="0" err="1">
                <a:latin typeface="Times New Roman" pitchFamily="18" charset="0"/>
                <a:cs typeface="Times New Roman" pitchFamily="18" charset="0"/>
              </a:rPr>
              <a:t>Scient</a:t>
            </a:r>
            <a:r>
              <a:rPr lang="da-DK" sz="1900" dirty="0">
                <a:latin typeface="Times New Roman" pitchFamily="18" charset="0"/>
                <a:cs typeface="Times New Roman" pitchFamily="18" charset="0"/>
              </a:rPr>
              <a:t> i datalogi og matematik</a:t>
            </a:r>
          </a:p>
          <a:p>
            <a:pPr marL="0" indent="0">
              <a:buNone/>
            </a:pPr>
            <a:endParaRPr lang="da-DK" dirty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da-DK" sz="2000" b="1" dirty="0">
                <a:latin typeface="Times New Roman" pitchFamily="18" charset="0"/>
                <a:cs typeface="Times New Roman" pitchFamily="18" charset="0"/>
              </a:rPr>
              <a:t> Baggrund: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a-DK" sz="1900" dirty="0">
                <a:latin typeface="Times New Roman" pitchFamily="18" charset="0"/>
                <a:cs typeface="Times New Roman" pitchFamily="18" charset="0"/>
              </a:rPr>
              <a:t>Lektor på DTU 2002-2023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a-DK" sz="1900" dirty="0">
                <a:latin typeface="Times New Roman" pitchFamily="18" charset="0"/>
                <a:cs typeface="Times New Roman" pitchFamily="18" charset="0"/>
              </a:rPr>
              <a:t>Adjunkt på </a:t>
            </a:r>
            <a:r>
              <a:rPr lang="da-DK" sz="1900" dirty="0" err="1">
                <a:latin typeface="Times New Roman" pitchFamily="18" charset="0"/>
                <a:cs typeface="Times New Roman" pitchFamily="18" charset="0"/>
              </a:rPr>
              <a:t>Datamatikerudd</a:t>
            </a:r>
            <a:r>
              <a:rPr lang="da-DK" sz="1900" dirty="0">
                <a:latin typeface="Times New Roman" pitchFamily="18" charset="0"/>
                <a:cs typeface="Times New Roman" pitchFamily="18" charset="0"/>
              </a:rPr>
              <a:t>. i Roskilde 1999-2002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a-DK" sz="1900" dirty="0">
                <a:latin typeface="Times New Roman" pitchFamily="18" charset="0"/>
                <a:cs typeface="Times New Roman" pitchFamily="18" charset="0"/>
              </a:rPr>
              <a:t>Systemprogrammør i Unibank(Nordea) 1989-1999</a:t>
            </a:r>
          </a:p>
          <a:p>
            <a:pPr marL="0" indent="0"/>
            <a:endParaRPr lang="da-DK" dirty="0"/>
          </a:p>
          <a:p>
            <a:pPr marL="0" indent="0"/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Undervisning:</a:t>
            </a:r>
            <a:endParaRPr lang="da-D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da-DK" sz="2000" dirty="0" smtClean="0">
                <a:latin typeface="Times New Roman" pitchFamily="18" charset="0"/>
                <a:cs typeface="Times New Roman" pitchFamily="18" charset="0"/>
              </a:rPr>
              <a:t>Programmering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a-DK" sz="2000" dirty="0" smtClean="0">
                <a:latin typeface="Times New Roman" pitchFamily="18" charset="0"/>
                <a:cs typeface="Times New Roman" pitchFamily="18" charset="0"/>
              </a:rPr>
              <a:t>Teknologi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a-DK" sz="2000" dirty="0" smtClean="0">
                <a:latin typeface="Times New Roman" pitchFamily="18" charset="0"/>
                <a:cs typeface="Times New Roman" pitchFamily="18" charset="0"/>
              </a:rPr>
              <a:t>Kunstig intelligens i Computerspil</a:t>
            </a:r>
            <a:endParaRPr lang="da-DK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da-DK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Interesser:</a:t>
            </a:r>
          </a:p>
          <a:p>
            <a:pPr marL="285750" indent="-285750"/>
            <a:r>
              <a:rPr lang="da-DK" sz="2000" dirty="0">
                <a:latin typeface="Times New Roman" pitchFamily="18" charset="0"/>
                <a:cs typeface="Times New Roman" pitchFamily="18" charset="0"/>
              </a:rPr>
              <a:t>Guitar og Saxofon</a:t>
            </a:r>
          </a:p>
          <a:p>
            <a:pPr marL="285750" indent="-285750"/>
            <a:r>
              <a:rPr lang="da-DK" sz="2000" dirty="0">
                <a:latin typeface="Times New Roman" pitchFamily="18" charset="0"/>
                <a:cs typeface="Times New Roman" pitchFamily="18" charset="0"/>
              </a:rPr>
              <a:t>Skak, Computerskak</a:t>
            </a:r>
          </a:p>
          <a:p>
            <a:pPr marL="285750" indent="-285750"/>
            <a:r>
              <a:rPr lang="da-DK" sz="2000" dirty="0" err="1">
                <a:latin typeface="Times New Roman" pitchFamily="18" charset="0"/>
                <a:cs typeface="Times New Roman" pitchFamily="18" charset="0"/>
              </a:rPr>
              <a:t>Legorobotter</a:t>
            </a:r>
            <a:endParaRPr lang="da-DK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endParaRPr lang="da-D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Mail: </a:t>
            </a:r>
            <a:r>
              <a:rPr lang="da-DK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bjch@ek.dk</a:t>
            </a:r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a-DK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endParaRPr lang="da-D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a-DK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da-DK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da-DK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646040"/>
            <a:ext cx="2962672" cy="1143000"/>
          </a:xfrm>
        </p:spPr>
        <p:txBody>
          <a:bodyPr>
            <a:normAutofit/>
          </a:bodyPr>
          <a:lstStyle/>
          <a:p>
            <a:r>
              <a:rPr lang="da-DK" sz="2000" dirty="0">
                <a:latin typeface="Imprint MT Shadow" pitchFamily="82" charset="0"/>
                <a:cs typeface="Times New Roman" pitchFamily="18" charset="0"/>
              </a:rPr>
              <a:t>Bjørn Christensen</a:t>
            </a:r>
            <a:br>
              <a:rPr lang="da-DK" sz="2000" dirty="0">
                <a:latin typeface="Imprint MT Shadow" pitchFamily="82" charset="0"/>
                <a:cs typeface="Times New Roman" pitchFamily="18" charset="0"/>
              </a:rPr>
            </a:br>
            <a:r>
              <a:rPr lang="da-DK" sz="1800" i="1" dirty="0">
                <a:latin typeface="Times New Roman" pitchFamily="18" charset="0"/>
                <a:cs typeface="Times New Roman" pitchFamily="18" charset="0"/>
              </a:rPr>
              <a:t>Underviser</a:t>
            </a:r>
            <a:br>
              <a:rPr lang="da-DK" sz="1800" i="1" dirty="0">
                <a:latin typeface="Times New Roman" pitchFamily="18" charset="0"/>
                <a:cs typeface="Times New Roman" pitchFamily="18" charset="0"/>
              </a:rPr>
            </a:br>
            <a:endParaRPr lang="da-DK" sz="1800" i="1" dirty="0">
              <a:latin typeface="Imprint MT Shadow" pitchFamily="82" charset="0"/>
              <a:cs typeface="Times New Roman" pitchFamily="18" charset="0"/>
            </a:endParaRPr>
          </a:p>
        </p:txBody>
      </p:sp>
      <p:pic>
        <p:nvPicPr>
          <p:cNvPr id="1026" name="Picture 2" descr="F:\Foto\Bjørn Foto\Bjørn på Cafe i Thailan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38" y="548679"/>
            <a:ext cx="2858902" cy="214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795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7784" y="4077072"/>
            <a:ext cx="4104456" cy="18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b="1" dirty="0">
                <a:latin typeface="Times New Roman" pitchFamily="18" charset="0"/>
                <a:cs typeface="Times New Roman" pitchFamily="18" charset="0"/>
              </a:rPr>
              <a:t>Uddannelse:</a:t>
            </a:r>
            <a:endParaRPr lang="da-DK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da-DK" sz="1900" dirty="0">
                <a:latin typeface="Times New Roman" pitchFamily="18" charset="0"/>
                <a:cs typeface="Times New Roman" pitchFamily="18" charset="0"/>
              </a:rPr>
              <a:t>Datamatiker </a:t>
            </a:r>
            <a:r>
              <a:rPr lang="da-DK" sz="1900" dirty="0" err="1" smtClean="0">
                <a:latin typeface="Times New Roman" pitchFamily="18" charset="0"/>
                <a:cs typeface="Times New Roman" pitchFamily="18" charset="0"/>
              </a:rPr>
              <a:t>topup</a:t>
            </a:r>
            <a:r>
              <a:rPr lang="da-DK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a-DK" sz="1900" dirty="0" err="1" smtClean="0">
                <a:latin typeface="Times New Roman" pitchFamily="18" charset="0"/>
                <a:cs typeface="Times New Roman" pitchFamily="18" charset="0"/>
              </a:rPr>
              <a:t>Softeareudvikling</a:t>
            </a:r>
            <a:endParaRPr lang="da-DK" sz="1900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da-D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</a:t>
            </a:r>
            <a:r>
              <a:rPr lang="da-DK" sz="2000" dirty="0" smtClean="0"/>
              <a:t>jaha0004@stud.ek.dk</a:t>
            </a:r>
            <a:endParaRPr lang="da-DK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5816" y="3067945"/>
            <a:ext cx="2962672" cy="1143000"/>
          </a:xfrm>
        </p:spPr>
        <p:txBody>
          <a:bodyPr>
            <a:normAutofit/>
          </a:bodyPr>
          <a:lstStyle/>
          <a:p>
            <a:r>
              <a:rPr lang="da-DK" sz="2000" dirty="0">
                <a:latin typeface="Imprint MT Shadow" pitchFamily="82" charset="0"/>
                <a:cs typeface="Times New Roman" pitchFamily="18" charset="0"/>
              </a:rPr>
              <a:t>Jannick Hansen</a:t>
            </a:r>
            <a:br>
              <a:rPr lang="da-DK" sz="2000" dirty="0">
                <a:latin typeface="Imprint MT Shadow" pitchFamily="82" charset="0"/>
                <a:cs typeface="Times New Roman" pitchFamily="18" charset="0"/>
              </a:rPr>
            </a:br>
            <a:r>
              <a:rPr lang="da-DK" sz="1800" i="1" dirty="0">
                <a:latin typeface="Times New Roman" pitchFamily="18" charset="0"/>
                <a:cs typeface="Times New Roman" pitchFamily="18" charset="0"/>
              </a:rPr>
              <a:t>Hjælpelærer</a:t>
            </a:r>
            <a:br>
              <a:rPr lang="da-DK" sz="1800" i="1" dirty="0">
                <a:latin typeface="Times New Roman" pitchFamily="18" charset="0"/>
                <a:cs typeface="Times New Roman" pitchFamily="18" charset="0"/>
              </a:rPr>
            </a:br>
            <a:endParaRPr lang="da-DK" sz="1800" i="1" dirty="0">
              <a:latin typeface="Imprint MT Shadow" pitchFamily="82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24802"/>
            <a:ext cx="2133600" cy="365125"/>
          </a:xfrm>
        </p:spPr>
        <p:txBody>
          <a:bodyPr/>
          <a:lstStyle/>
          <a:p>
            <a:fld id="{9642F955-0D5E-4A0E-8C2D-B078D095E870}" type="slidenum">
              <a:rPr lang="da-DK" smtClean="0"/>
              <a:t>4</a:t>
            </a:fld>
            <a:endParaRPr lang="da-DK"/>
          </a:p>
        </p:txBody>
      </p:sp>
      <p:pic>
        <p:nvPicPr>
          <p:cNvPr id="1026" name="Picture 2" descr="F:\GoogleDrive\KEA\2024-2\Prog1 DAT24D\Jann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76672"/>
            <a:ext cx="3455030" cy="259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47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jørn\Desktop\please_no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836613"/>
            <a:ext cx="27717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5" descr="C:\Users\Bjørn\Desktop\no-cell-phones_Layout-1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76250"/>
            <a:ext cx="2670175" cy="288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330114"/>
            <a:ext cx="2878455" cy="287845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364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Semesterplan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492138"/>
              </p:ext>
            </p:extLst>
          </p:nvPr>
        </p:nvGraphicFramePr>
        <p:xfrm>
          <a:off x="323537" y="3212976"/>
          <a:ext cx="8060890" cy="396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41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  <a:gridCol w="474170">
                  <a:extLst>
                    <a:ext uri="{9D8B030D-6E8A-4147-A177-3AD203B41FA5}">
                      <a16:colId xmlns="" xmlns:a16="http://schemas.microsoft.com/office/drawing/2014/main" val="20015"/>
                    </a:ext>
                  </a:extLst>
                </a:gridCol>
                <a:gridCol w="47417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35</a:t>
                      </a:r>
                      <a:endParaRPr lang="da-DK" sz="2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36</a:t>
                      </a:r>
                      <a:endParaRPr lang="da-DK" sz="2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37</a:t>
                      </a:r>
                      <a:endParaRPr lang="da-DK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38</a:t>
                      </a:r>
                      <a:endParaRPr lang="da-DK" sz="2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39</a:t>
                      </a:r>
                      <a:endParaRPr lang="da-DK" sz="2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40</a:t>
                      </a:r>
                      <a:endParaRPr lang="da-DK" sz="2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41</a:t>
                      </a:r>
                      <a:endParaRPr lang="da-DK" sz="2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42</a:t>
                      </a:r>
                      <a:endParaRPr lang="da-DK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43</a:t>
                      </a:r>
                      <a:endParaRPr lang="da-DK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44</a:t>
                      </a:r>
                      <a:endParaRPr lang="da-DK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45</a:t>
                      </a:r>
                      <a:endParaRPr lang="da-DK" sz="2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46</a:t>
                      </a:r>
                      <a:endParaRPr lang="da-DK" sz="20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47</a:t>
                      </a:r>
                      <a:endParaRPr lang="da-DK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48</a:t>
                      </a:r>
                      <a:endParaRPr lang="da-DK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49</a:t>
                      </a:r>
                      <a:endParaRPr lang="da-DK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50</a:t>
                      </a:r>
                      <a:endParaRPr lang="da-DK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 dirty="0" smtClean="0"/>
                        <a:t>51</a:t>
                      </a:r>
                      <a:endParaRPr lang="da-DK" sz="20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560" y="1412776"/>
            <a:ext cx="4258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Semesteret består af </a:t>
            </a:r>
            <a:r>
              <a:rPr lang="da-DK" dirty="0" smtClean="0"/>
              <a:t>17 </a:t>
            </a:r>
            <a:r>
              <a:rPr lang="da-DK" dirty="0"/>
              <a:t>undervisningsuger: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6</a:t>
            </a:fld>
            <a:endParaRPr lang="da-DK"/>
          </a:p>
        </p:txBody>
      </p:sp>
      <p:sp>
        <p:nvSpPr>
          <p:cNvPr id="8" name="Rectangular Callout 7"/>
          <p:cNvSpPr/>
          <p:nvPr/>
        </p:nvSpPr>
        <p:spPr>
          <a:xfrm>
            <a:off x="971600" y="4077072"/>
            <a:ext cx="2016224" cy="360040"/>
          </a:xfrm>
          <a:prstGeom prst="wedgeRectCallout">
            <a:avLst>
              <a:gd name="adj1" fmla="val 18101"/>
              <a:gd name="adj2" fmla="val -14099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Klasseundervisning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5652120" y="2317726"/>
            <a:ext cx="2016224" cy="360040"/>
          </a:xfrm>
          <a:prstGeom prst="wedgeRectCallout">
            <a:avLst>
              <a:gd name="adj1" fmla="val -56210"/>
              <a:gd name="adj2" fmla="val 18176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Klasseundervisning</a:t>
            </a:r>
          </a:p>
        </p:txBody>
      </p:sp>
      <p:sp>
        <p:nvSpPr>
          <p:cNvPr id="10" name="Rectangular Callout 9"/>
          <p:cNvSpPr/>
          <p:nvPr/>
        </p:nvSpPr>
        <p:spPr>
          <a:xfrm>
            <a:off x="3487861" y="4133395"/>
            <a:ext cx="1368152" cy="360040"/>
          </a:xfrm>
          <a:prstGeom prst="wedgeRectCallout">
            <a:avLst>
              <a:gd name="adj1" fmla="val -15377"/>
              <a:gd name="adj2" fmla="val -18976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Efterårsferie</a:t>
            </a:r>
            <a:endParaRPr lang="da-DK" dirty="0"/>
          </a:p>
        </p:txBody>
      </p:sp>
      <p:sp>
        <p:nvSpPr>
          <p:cNvPr id="11" name="Rectangular Callout 10"/>
          <p:cNvSpPr/>
          <p:nvPr/>
        </p:nvSpPr>
        <p:spPr>
          <a:xfrm>
            <a:off x="2705858" y="2348880"/>
            <a:ext cx="1013206" cy="360040"/>
          </a:xfrm>
          <a:prstGeom prst="wedgeRectCallout">
            <a:avLst>
              <a:gd name="adj1" fmla="val -168094"/>
              <a:gd name="adj2" fmla="val 18600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Projekt 1</a:t>
            </a:r>
          </a:p>
        </p:txBody>
      </p:sp>
      <p:sp>
        <p:nvSpPr>
          <p:cNvPr id="12" name="Rectangular Callout 11"/>
          <p:cNvSpPr/>
          <p:nvPr/>
        </p:nvSpPr>
        <p:spPr>
          <a:xfrm>
            <a:off x="6516216" y="4077072"/>
            <a:ext cx="1013206" cy="360040"/>
          </a:xfrm>
          <a:prstGeom prst="wedgeRectCallout">
            <a:avLst>
              <a:gd name="adj1" fmla="val 7507"/>
              <a:gd name="adj2" fmla="val -17944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Projekt </a:t>
            </a:r>
            <a:r>
              <a:rPr lang="da-DK" dirty="0" smtClean="0"/>
              <a:t>3</a:t>
            </a:r>
            <a:endParaRPr lang="da-DK" dirty="0"/>
          </a:p>
        </p:txBody>
      </p:sp>
      <p:sp>
        <p:nvSpPr>
          <p:cNvPr id="14" name="Rectangular Callout 13"/>
          <p:cNvSpPr/>
          <p:nvPr/>
        </p:nvSpPr>
        <p:spPr>
          <a:xfrm>
            <a:off x="4138846" y="2348880"/>
            <a:ext cx="1013206" cy="360040"/>
          </a:xfrm>
          <a:prstGeom prst="wedgeRectCallout">
            <a:avLst>
              <a:gd name="adj1" fmla="val -1335"/>
              <a:gd name="adj2" fmla="val 184391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Projekt 2</a:t>
            </a:r>
          </a:p>
        </p:txBody>
      </p:sp>
      <p:sp>
        <p:nvSpPr>
          <p:cNvPr id="15" name="Rectangular Callout 14"/>
          <p:cNvSpPr/>
          <p:nvPr/>
        </p:nvSpPr>
        <p:spPr>
          <a:xfrm>
            <a:off x="323528" y="2317726"/>
            <a:ext cx="2016224" cy="360040"/>
          </a:xfrm>
          <a:prstGeom prst="wedgeRectCallout">
            <a:avLst>
              <a:gd name="adj1" fmla="val -9178"/>
              <a:gd name="adj2" fmla="val 18362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Klasseundervisning</a:t>
            </a:r>
          </a:p>
        </p:txBody>
      </p:sp>
    </p:spTree>
    <p:extLst>
      <p:ext uri="{BB962C8B-B14F-4D97-AF65-F5344CB8AC3E}">
        <p14:creationId xmlns:p14="http://schemas.microsoft.com/office/powerpoint/2010/main" val="648924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16" t="28372"/>
          <a:stretch/>
        </p:blipFill>
        <p:spPr bwMode="auto">
          <a:xfrm>
            <a:off x="31796" y="1248688"/>
            <a:ext cx="8884324" cy="5276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Ugeskema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7</a:t>
            </a:fld>
            <a:endParaRPr lang="da-DK"/>
          </a:p>
        </p:txBody>
      </p:sp>
      <p:sp>
        <p:nvSpPr>
          <p:cNvPr id="6" name="Rounded Rectangular Callout 5"/>
          <p:cNvSpPr/>
          <p:nvPr/>
        </p:nvSpPr>
        <p:spPr>
          <a:xfrm>
            <a:off x="2699792" y="4149080"/>
            <a:ext cx="1800200" cy="648072"/>
          </a:xfrm>
          <a:prstGeom prst="wedgeRoundRectCallout">
            <a:avLst>
              <a:gd name="adj1" fmla="val 58586"/>
              <a:gd name="adj2" fmla="val -173230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 smtClean="0"/>
              <a:t>OBS:</a:t>
            </a:r>
            <a:br>
              <a:rPr lang="da-DK" dirty="0" smtClean="0"/>
            </a:br>
            <a:r>
              <a:rPr lang="da-DK" dirty="0" smtClean="0"/>
              <a:t>Online på Teams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1932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da-DK" dirty="0" err="1"/>
              <a:t>Review</a:t>
            </a:r>
            <a:r>
              <a:rPr lang="da-DK" dirty="0"/>
              <a:t> møder </a:t>
            </a:r>
            <a:r>
              <a:rPr lang="da-DK" dirty="0" smtClean="0"/>
              <a:t>– onsdage 8.30-11.45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smtClean="0"/>
              <a:t>Online på </a:t>
            </a:r>
            <a:r>
              <a:rPr lang="da-DK" dirty="0"/>
              <a:t>Teams: </a:t>
            </a:r>
            <a:r>
              <a:rPr lang="en-US" b="1" dirty="0"/>
              <a:t>TeamDAT-GBG-DA-F26A</a:t>
            </a:r>
            <a:endParaRPr lang="da-DK" dirty="0"/>
          </a:p>
          <a:p>
            <a:r>
              <a:rPr lang="da-DK" dirty="0"/>
              <a:t>Studiegrupper</a:t>
            </a:r>
          </a:p>
          <a:p>
            <a:r>
              <a:rPr lang="da-DK" dirty="0"/>
              <a:t>Fremlæg opgaver</a:t>
            </a:r>
          </a:p>
          <a:p>
            <a:r>
              <a:rPr lang="da-DK" dirty="0"/>
              <a:t>½ time </a:t>
            </a:r>
            <a:r>
              <a:rPr lang="da-DK" dirty="0" smtClean="0"/>
              <a:t>pr. </a:t>
            </a:r>
            <a:r>
              <a:rPr lang="da-DK" dirty="0"/>
              <a:t>gruppe</a:t>
            </a:r>
          </a:p>
          <a:p>
            <a:r>
              <a:rPr lang="da-DK" dirty="0"/>
              <a:t>Kamera </a:t>
            </a:r>
            <a:r>
              <a:rPr lang="da-DK" dirty="0" smtClean="0"/>
              <a:t>tændt</a:t>
            </a:r>
          </a:p>
          <a:p>
            <a:r>
              <a:rPr lang="da-DK" dirty="0" smtClean="0"/>
              <a:t>Test adgang til Teams</a:t>
            </a:r>
            <a:endParaRPr lang="da-DK" dirty="0"/>
          </a:p>
        </p:txBody>
      </p:sp>
      <p:pic>
        <p:nvPicPr>
          <p:cNvPr id="3077" name="Picture 5" descr="Team Work PNG, Vector, PSD, and Clipart With Transparent Background for  Free Download | Pngtr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348880"/>
            <a:ext cx="3662772" cy="366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0409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itslearning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Lektionsplaner</a:t>
            </a:r>
          </a:p>
          <a:p>
            <a:r>
              <a:rPr lang="da-DK" dirty="0"/>
              <a:t>Mødetider til online </a:t>
            </a:r>
            <a:r>
              <a:rPr lang="da-DK" dirty="0" err="1"/>
              <a:t>review</a:t>
            </a:r>
            <a:r>
              <a:rPr lang="da-DK" dirty="0"/>
              <a:t> møder (onsdage)</a:t>
            </a:r>
          </a:p>
          <a:p>
            <a:r>
              <a:rPr lang="da-DK" dirty="0"/>
              <a:t>Opgaver og vejledninger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9</a:t>
            </a:fld>
            <a:endParaRPr lang="da-DK"/>
          </a:p>
        </p:txBody>
      </p:sp>
      <p:pic>
        <p:nvPicPr>
          <p:cNvPr id="1026" name="Picture 2" descr="Fronter - itslearn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365104"/>
            <a:ext cx="4226224" cy="92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63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6A1473A6-3F22-483E-8A30-80B9D2B145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AA1375E3-3E53-4D75-BAB7-E5929BFCB2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400776" y="563918"/>
            <a:ext cx="3089949" cy="5978614"/>
            <a:chOff x="7513372" y="803186"/>
            <a:chExt cx="4163968" cy="5978614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xmlns="" id="{0BBEEF67-3DDF-46CF-8CD5-EA5F0E4FB07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989586" y="1070835"/>
              <a:ext cx="687754" cy="5710965"/>
            </a:xfrm>
            <a:custGeom>
              <a:avLst/>
              <a:gdLst>
                <a:gd name="T0" fmla="*/ 414 w 414"/>
                <a:gd name="T1" fmla="*/ 2447 h 2447"/>
                <a:gd name="T2" fmla="*/ 0 w 414"/>
                <a:gd name="T3" fmla="*/ 2247 h 2447"/>
                <a:gd name="T4" fmla="*/ 0 w 414"/>
                <a:gd name="T5" fmla="*/ 0 h 2447"/>
                <a:gd name="T6" fmla="*/ 414 w 414"/>
                <a:gd name="T7" fmla="*/ 200 h 2447"/>
                <a:gd name="T8" fmla="*/ 414 w 414"/>
                <a:gd name="T9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2447">
                  <a:moveTo>
                    <a:pt x="414" y="2447"/>
                  </a:moveTo>
                  <a:lnTo>
                    <a:pt x="0" y="2247"/>
                  </a:lnTo>
                  <a:lnTo>
                    <a:pt x="0" y="0"/>
                  </a:lnTo>
                  <a:lnTo>
                    <a:pt x="414" y="200"/>
                  </a:lnTo>
                  <a:lnTo>
                    <a:pt x="414" y="244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xmlns="" id="{8FAC1C95-F817-487C-B8B2-CF141FBB1C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10988949" y="803186"/>
              <a:ext cx="409371" cy="5521414"/>
            </a:xfrm>
            <a:custGeom>
              <a:avLst/>
              <a:gdLst>
                <a:gd name="T0" fmla="*/ 209 w 209"/>
                <a:gd name="T1" fmla="*/ 2246 h 2358"/>
                <a:gd name="T2" fmla="*/ 0 w 209"/>
                <a:gd name="T3" fmla="*/ 2358 h 2358"/>
                <a:gd name="T4" fmla="*/ 0 w 209"/>
                <a:gd name="T5" fmla="*/ 111 h 2358"/>
                <a:gd name="T6" fmla="*/ 209 w 209"/>
                <a:gd name="T7" fmla="*/ 0 h 2358"/>
                <a:gd name="T8" fmla="*/ 209 w 209"/>
                <a:gd name="T9" fmla="*/ 2246 h 2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2358">
                  <a:moveTo>
                    <a:pt x="209" y="2246"/>
                  </a:moveTo>
                  <a:lnTo>
                    <a:pt x="0" y="2358"/>
                  </a:lnTo>
                  <a:lnTo>
                    <a:pt x="0" y="111"/>
                  </a:lnTo>
                  <a:lnTo>
                    <a:pt x="209" y="0"/>
                  </a:lnTo>
                  <a:lnTo>
                    <a:pt x="209" y="224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xmlns="" id="{C2C5363A-D941-4AA1-8D38-D7E44A1E2E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7513372" y="804101"/>
              <a:ext cx="3880238" cy="5251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C3C6DE-4CA4-FA46-AA66-CBDA4F883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852" y="885652"/>
            <a:ext cx="2422352" cy="4624603"/>
          </a:xfrm>
        </p:spPr>
        <p:txBody>
          <a:bodyPr>
            <a:normAutofit/>
          </a:bodyPr>
          <a:lstStyle/>
          <a:p>
            <a:r>
              <a:rPr lang="x-none" sz="3700">
                <a:solidFill>
                  <a:srgbClr val="FFFFFF"/>
                </a:solidFill>
              </a:rPr>
              <a:t>Programmering</a:t>
            </a:r>
            <a:r>
              <a:rPr lang="da-DK" sz="3700">
                <a:solidFill>
                  <a:srgbClr val="FFFFFF"/>
                </a:solidFill>
              </a:rPr>
              <a:t> indhold</a:t>
            </a:r>
            <a:endParaRPr lang="x-none" sz="3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8A9B73-D529-C34E-A92E-2FFFF176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031" y="885652"/>
            <a:ext cx="4893915" cy="4616849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buNone/>
            </a:pPr>
            <a:r>
              <a:rPr lang="da-DK" sz="2400" dirty="0">
                <a:cs typeface="Calibri"/>
              </a:rPr>
              <a:t>Find info på flg. vha. </a:t>
            </a:r>
            <a:r>
              <a:rPr lang="da-DK" sz="2400" dirty="0" err="1">
                <a:cs typeface="Calibri"/>
              </a:rPr>
              <a:t>ChatGPT</a:t>
            </a:r>
            <a:r>
              <a:rPr lang="da-DK" sz="2400" dirty="0">
                <a:cs typeface="Calibri"/>
              </a:rPr>
              <a:t> eller internetsøgning</a:t>
            </a:r>
          </a:p>
          <a:p>
            <a:r>
              <a:rPr lang="da-DK" sz="2400" dirty="0" smtClean="0">
                <a:cs typeface="Calibri"/>
              </a:rPr>
              <a:t>Java Collections</a:t>
            </a:r>
          </a:p>
          <a:p>
            <a:r>
              <a:rPr lang="da-DK" sz="2400" dirty="0">
                <a:cs typeface="Calibri"/>
              </a:rPr>
              <a:t>HTML+CSS</a:t>
            </a:r>
          </a:p>
          <a:p>
            <a:r>
              <a:rPr lang="da-DK" sz="2400" dirty="0" smtClean="0">
                <a:cs typeface="Calibri"/>
              </a:rPr>
              <a:t>SQL</a:t>
            </a:r>
          </a:p>
          <a:p>
            <a:r>
              <a:rPr lang="da-DK" sz="2400" dirty="0">
                <a:cs typeface="Calibri"/>
              </a:rPr>
              <a:t>Database </a:t>
            </a:r>
            <a:r>
              <a:rPr lang="da-DK" sz="2400" dirty="0" err="1" smtClean="0">
                <a:cs typeface="Calibri"/>
              </a:rPr>
              <a:t>MySQL</a:t>
            </a:r>
            <a:r>
              <a:rPr lang="da-DK" sz="2400" dirty="0" smtClean="0">
                <a:cs typeface="Calibri"/>
              </a:rPr>
              <a:t>+ </a:t>
            </a:r>
            <a:r>
              <a:rPr lang="da-DK" sz="2400" dirty="0" err="1" smtClean="0">
                <a:cs typeface="Calibri"/>
              </a:rPr>
              <a:t>MySQL</a:t>
            </a:r>
            <a:r>
              <a:rPr lang="da-DK" sz="2400" dirty="0" smtClean="0">
                <a:cs typeface="Calibri"/>
              </a:rPr>
              <a:t> Workbench</a:t>
            </a:r>
          </a:p>
          <a:p>
            <a:r>
              <a:rPr lang="da-DK" sz="2400" dirty="0" smtClean="0">
                <a:cs typeface="Calibri"/>
              </a:rPr>
              <a:t>JDBC</a:t>
            </a:r>
            <a:endParaRPr lang="da-DK" sz="2400" dirty="0">
              <a:cs typeface="Calibri"/>
            </a:endParaRPr>
          </a:p>
          <a:p>
            <a:r>
              <a:rPr lang="da-DK" sz="2400" dirty="0" smtClean="0">
                <a:cs typeface="Calibri"/>
              </a:rPr>
              <a:t>Spring </a:t>
            </a:r>
            <a:r>
              <a:rPr lang="da-DK" sz="2400" dirty="0">
                <a:cs typeface="Calibri"/>
              </a:rPr>
              <a:t>Boot</a:t>
            </a:r>
          </a:p>
          <a:p>
            <a:r>
              <a:rPr lang="da-DK" sz="2400" dirty="0" err="1" smtClean="0">
                <a:cs typeface="Calibri"/>
              </a:rPr>
              <a:t>Thymeleaf</a:t>
            </a:r>
            <a:endParaRPr lang="da-DK" sz="2400" dirty="0" smtClean="0">
              <a:cs typeface="Calibri"/>
            </a:endParaRPr>
          </a:p>
          <a:p>
            <a:r>
              <a:rPr lang="da-DK" sz="2400" dirty="0" err="1" smtClean="0">
                <a:cs typeface="Calibri"/>
              </a:rPr>
              <a:t>Azure</a:t>
            </a:r>
            <a:endParaRPr lang="da-DK" sz="2400" dirty="0" smtClean="0">
              <a:cs typeface="Calibri"/>
            </a:endParaRPr>
          </a:p>
          <a:p>
            <a:r>
              <a:rPr lang="da-DK" sz="2400" dirty="0"/>
              <a:t>Java </a:t>
            </a:r>
            <a:r>
              <a:rPr lang="da-DK" sz="2400" dirty="0" err="1" smtClean="0"/>
              <a:t>threads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4162471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B5FA7C47-B7C1-4D2E-AB49-ED23BA34BA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xmlns="" id="{596EE156-ABF1-4329-A6BA-03B4254E08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H="1">
            <a:off x="390858" y="911117"/>
            <a:ext cx="515816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xmlns="" id="{19B9933F-AAB3-444A-8BB5-9CA194A8BC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H="1">
            <a:off x="0" y="1370435"/>
            <a:ext cx="395420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xmlns="" id="{7D20183A-0B1D-4A1F-89B1-ADBEDBC6E5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flipH="1">
            <a:off x="600124" y="643467"/>
            <a:ext cx="307028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xmlns="" id="{131031D3-26CD-4214-A9A4-5857EFA15A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596647" y="644382"/>
            <a:ext cx="2892018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xmlns="" id="{BDD88B05-C2A3-4843-98CC-55D5D213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59" y="998003"/>
            <a:ext cx="2387205" cy="1471959"/>
          </a:xfrm>
        </p:spPr>
        <p:txBody>
          <a:bodyPr>
            <a:normAutofit fontScale="90000"/>
          </a:bodyPr>
          <a:lstStyle/>
          <a:p>
            <a:r>
              <a:rPr lang="da-DK" sz="3600" dirty="0">
                <a:solidFill>
                  <a:srgbClr val="FFFFFF"/>
                </a:solidFill>
              </a:rPr>
              <a:t>Full </a:t>
            </a:r>
            <a:r>
              <a:rPr lang="da-DK" sz="3600" dirty="0" err="1">
                <a:solidFill>
                  <a:srgbClr val="FFFFFF"/>
                </a:solidFill>
              </a:rPr>
              <a:t>stack</a:t>
            </a:r>
            <a:r>
              <a:rPr lang="da-DK" sz="3600" dirty="0">
                <a:solidFill>
                  <a:srgbClr val="FFFFFF"/>
                </a:solidFill>
              </a:rPr>
              <a:t> web-løsning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40A689D5-C05D-49C9-B704-B7540D785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27" y="2546162"/>
            <a:ext cx="2400338" cy="2985929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400" dirty="0">
                <a:solidFill>
                  <a:srgbClr val="FEFFFF"/>
                </a:solidFill>
              </a:rPr>
              <a:t>Mere end </a:t>
            </a:r>
            <a:r>
              <a:rPr lang="en-US" sz="2400" dirty="0" err="1">
                <a:solidFill>
                  <a:srgbClr val="FEFFFF"/>
                </a:solidFill>
              </a:rPr>
              <a:t>programmering</a:t>
            </a:r>
            <a:endParaRPr lang="en-US" sz="2400" dirty="0">
              <a:solidFill>
                <a:srgbClr val="FEFFFF"/>
              </a:solidFill>
            </a:endParaRPr>
          </a:p>
          <a:p>
            <a:r>
              <a:rPr lang="en-US" sz="2400" dirty="0" err="1">
                <a:solidFill>
                  <a:srgbClr val="FEFFFF"/>
                </a:solidFill>
              </a:rPr>
              <a:t>Udvikling</a:t>
            </a:r>
            <a:r>
              <a:rPr lang="en-US" sz="2400" dirty="0">
                <a:solidFill>
                  <a:srgbClr val="FEFFFF"/>
                </a:solidFill>
              </a:rPr>
              <a:t> </a:t>
            </a:r>
            <a:r>
              <a:rPr lang="en-US" sz="2400" dirty="0" err="1">
                <a:solidFill>
                  <a:srgbClr val="FEFFFF"/>
                </a:solidFill>
              </a:rPr>
              <a:t>af</a:t>
            </a:r>
            <a:r>
              <a:rPr lang="en-US" sz="2400" dirty="0">
                <a:solidFill>
                  <a:srgbClr val="FEFFFF"/>
                </a:solidFill>
              </a:rPr>
              <a:t>  </a:t>
            </a:r>
            <a:r>
              <a:rPr lang="en-US" sz="2400" dirty="0" err="1">
                <a:solidFill>
                  <a:srgbClr val="FEFFFF"/>
                </a:solidFill>
              </a:rPr>
              <a:t>fler-bruger</a:t>
            </a:r>
            <a:r>
              <a:rPr lang="en-US" sz="2400" dirty="0">
                <a:solidFill>
                  <a:srgbClr val="FEFFFF"/>
                </a:solidFill>
              </a:rPr>
              <a:t> application</a:t>
            </a:r>
          </a:p>
          <a:p>
            <a:r>
              <a:rPr lang="en-US" sz="2400" dirty="0" err="1">
                <a:solidFill>
                  <a:srgbClr val="FEFFFF"/>
                </a:solidFill>
              </a:rPr>
              <a:t>På</a:t>
            </a:r>
            <a:r>
              <a:rPr lang="en-US" sz="2400" dirty="0">
                <a:solidFill>
                  <a:srgbClr val="FEFFFF"/>
                </a:solidFill>
              </a:rPr>
              <a:t> 2. </a:t>
            </a:r>
            <a:r>
              <a:rPr lang="en-US" sz="2400" dirty="0" err="1">
                <a:solidFill>
                  <a:srgbClr val="FEFFFF"/>
                </a:solidFill>
              </a:rPr>
              <a:t>sem</a:t>
            </a:r>
            <a:r>
              <a:rPr lang="en-US" sz="2400" dirty="0">
                <a:solidFill>
                  <a:srgbClr val="FEFFFF"/>
                </a:solidFill>
              </a:rPr>
              <a:t> server side rendered</a:t>
            </a:r>
          </a:p>
          <a:p>
            <a:r>
              <a:rPr lang="en-US" sz="2400" dirty="0" err="1">
                <a:solidFill>
                  <a:srgbClr val="FEFFFF"/>
                </a:solidFill>
              </a:rPr>
              <a:t>På</a:t>
            </a:r>
            <a:r>
              <a:rPr lang="en-US" sz="2400" dirty="0">
                <a:solidFill>
                  <a:srgbClr val="FEFFFF"/>
                </a:solidFill>
              </a:rPr>
              <a:t> 3. </a:t>
            </a:r>
            <a:r>
              <a:rPr lang="en-US" sz="2400" dirty="0" err="1">
                <a:solidFill>
                  <a:srgbClr val="FEFFFF"/>
                </a:solidFill>
              </a:rPr>
              <a:t>sem</a:t>
            </a:r>
            <a:r>
              <a:rPr lang="en-US" sz="2400" dirty="0">
                <a:solidFill>
                  <a:srgbClr val="FEFFFF"/>
                </a:solidFill>
              </a:rPr>
              <a:t> client side rendered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xmlns="" id="{B2B7D385-300A-314C-BF94-4C770B5F2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702" y="1258526"/>
            <a:ext cx="4904306" cy="40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17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xmlns="" id="{827B839B-9ADE-406B-8590-F1CAEDED45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45">
            <a:extLst>
              <a:ext uri="{FF2B5EF4-FFF2-40B4-BE49-F238E27FC236}">
                <a16:creationId xmlns:a16="http://schemas.microsoft.com/office/drawing/2014/main" xmlns="" id="{CFE45BF0-46DB-408C-B5F7-7B1171680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307283" y="1022351"/>
            <a:ext cx="532209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46">
            <a:extLst>
              <a:ext uri="{FF2B5EF4-FFF2-40B4-BE49-F238E27FC236}">
                <a16:creationId xmlns:a16="http://schemas.microsoft.com/office/drawing/2014/main" xmlns="" id="{2AEBC8F2-97B1-41B4-93F1-2D289E197F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307283" y="837745"/>
            <a:ext cx="302419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47">
            <a:extLst>
              <a:ext uri="{FF2B5EF4-FFF2-40B4-BE49-F238E27FC236}">
                <a16:creationId xmlns:a16="http://schemas.microsoft.com/office/drawing/2014/main" xmlns="" id="{472E3A19-F5D5-48FC-BB9C-48C2F68F5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83496" y="640895"/>
            <a:ext cx="126206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44">
            <a:extLst>
              <a:ext uri="{FF2B5EF4-FFF2-40B4-BE49-F238E27FC236}">
                <a16:creationId xmlns:a16="http://schemas.microsoft.com/office/drawing/2014/main" xmlns="" id="{7A62E32F-BB65-43A8-8EB5-92346890E5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417402" y="635716"/>
            <a:ext cx="246459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14E91B64-9FCC-451E-AFB4-A827D63293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83042" y="635716"/>
            <a:ext cx="8180897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1ED75-210A-6B45-847D-4AE20735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80" y="800392"/>
            <a:ext cx="7698523" cy="1212102"/>
          </a:xfrm>
        </p:spPr>
        <p:txBody>
          <a:bodyPr>
            <a:normAutofit/>
          </a:bodyPr>
          <a:lstStyle/>
          <a:p>
            <a:r>
              <a:rPr lang="da-DK" sz="4000" dirty="0" smtClean="0">
                <a:solidFill>
                  <a:srgbClr val="FFFFFF"/>
                </a:solidFill>
              </a:rPr>
              <a:t>Obligatoriske projekter</a:t>
            </a:r>
            <a:endParaRPr lang="da-DK" sz="4000" dirty="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21CC75-2022-2048-BE07-EBD407B6F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719" y="2490437"/>
            <a:ext cx="7281746" cy="35671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 err="1" smtClean="0">
                <a:ea typeface="+mn-lt"/>
                <a:cs typeface="+mn-lt"/>
              </a:rPr>
              <a:t>Projekt</a:t>
            </a:r>
            <a:r>
              <a:rPr lang="en-US" sz="2400" b="1" dirty="0">
                <a:ea typeface="+mn-lt"/>
                <a:cs typeface="+mn-lt"/>
              </a:rPr>
              <a:t> I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 err="1">
                <a:ea typeface="+mn-lt"/>
                <a:cs typeface="+mn-lt"/>
              </a:rPr>
              <a:t>Systemudvikling</a:t>
            </a:r>
            <a:r>
              <a:rPr lang="en-US" sz="2400" dirty="0">
                <a:ea typeface="+mn-lt"/>
                <a:cs typeface="+mn-lt"/>
              </a:rPr>
              <a:t> og </a:t>
            </a:r>
            <a:r>
              <a:rPr lang="en-US" sz="2400" dirty="0" err="1">
                <a:ea typeface="+mn-lt"/>
                <a:cs typeface="+mn-lt"/>
              </a:rPr>
              <a:t>Programmering</a:t>
            </a:r>
            <a:r>
              <a:rPr lang="en-US" sz="2400" dirty="0" smtClean="0">
                <a:ea typeface="+mn-lt"/>
                <a:cs typeface="+mn-lt"/>
              </a:rPr>
              <a:t>) </a:t>
            </a:r>
            <a:r>
              <a:rPr lang="en-US" sz="2400" dirty="0">
                <a:ea typeface="+mn-lt"/>
                <a:cs typeface="+mn-lt"/>
              </a:rPr>
              <a:t>- </a:t>
            </a:r>
            <a:r>
              <a:rPr lang="en-US" sz="2400" dirty="0" err="1">
                <a:ea typeface="+mn-lt"/>
                <a:cs typeface="+mn-lt"/>
              </a:rPr>
              <a:t>uge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smtClean="0">
                <a:ea typeface="+mn-lt"/>
                <a:cs typeface="+mn-lt"/>
              </a:rPr>
              <a:t>37</a:t>
            </a:r>
          </a:p>
          <a:p>
            <a:r>
              <a:rPr lang="en-US" sz="2400" b="1" dirty="0" err="1" smtClean="0">
                <a:ea typeface="+mn-lt"/>
                <a:cs typeface="+mn-lt"/>
              </a:rPr>
              <a:t>Projekt</a:t>
            </a:r>
            <a:r>
              <a:rPr lang="en-US" sz="2400" b="1" dirty="0" smtClean="0">
                <a:ea typeface="+mn-lt"/>
                <a:cs typeface="+mn-lt"/>
              </a:rPr>
              <a:t> II</a:t>
            </a:r>
            <a:r>
              <a:rPr lang="en-US" sz="2400" dirty="0" smtClean="0">
                <a:ea typeface="+mn-lt"/>
                <a:cs typeface="+mn-lt"/>
              </a:rPr>
              <a:t> (</a:t>
            </a:r>
            <a:r>
              <a:rPr lang="en-US" sz="2400" dirty="0" err="1" smtClean="0">
                <a:ea typeface="+mn-lt"/>
                <a:cs typeface="+mn-lt"/>
              </a:rPr>
              <a:t>alle</a:t>
            </a:r>
            <a:r>
              <a:rPr lang="en-US" sz="2400" dirty="0" smtClean="0">
                <a:ea typeface="+mn-lt"/>
                <a:cs typeface="+mn-lt"/>
              </a:rPr>
              <a:t> fag) </a:t>
            </a:r>
            <a:r>
              <a:rPr lang="en-US" sz="2400" dirty="0" err="1" smtClean="0">
                <a:ea typeface="+mn-lt"/>
                <a:cs typeface="+mn-lt"/>
              </a:rPr>
              <a:t>Miniprojekt</a:t>
            </a:r>
            <a:r>
              <a:rPr lang="en-US" sz="2400" dirty="0" smtClean="0">
                <a:ea typeface="+mn-lt"/>
                <a:cs typeface="+mn-lt"/>
              </a:rPr>
              <a:t> – </a:t>
            </a:r>
            <a:r>
              <a:rPr lang="en-US" sz="2400" dirty="0" err="1" smtClean="0">
                <a:ea typeface="+mn-lt"/>
                <a:cs typeface="+mn-lt"/>
              </a:rPr>
              <a:t>uge</a:t>
            </a:r>
            <a:r>
              <a:rPr lang="en-US" sz="2400" dirty="0" smtClean="0">
                <a:ea typeface="+mn-lt"/>
                <a:cs typeface="+mn-lt"/>
              </a:rPr>
              <a:t> 43-44</a:t>
            </a:r>
          </a:p>
          <a:p>
            <a:r>
              <a:rPr lang="en-US" sz="2400" b="1" dirty="0" err="1" smtClean="0">
                <a:ea typeface="+mn-lt"/>
                <a:cs typeface="+mn-lt"/>
              </a:rPr>
              <a:t>Projekt</a:t>
            </a:r>
            <a:r>
              <a:rPr lang="en-US" sz="2400" b="1" dirty="0" smtClean="0">
                <a:ea typeface="+mn-lt"/>
                <a:cs typeface="+mn-lt"/>
              </a:rPr>
              <a:t> </a:t>
            </a:r>
            <a:r>
              <a:rPr lang="en-US" sz="2400" b="1" dirty="0" err="1" smtClean="0">
                <a:ea typeface="+mn-lt"/>
                <a:cs typeface="+mn-lt"/>
              </a:rPr>
              <a:t>lll</a:t>
            </a:r>
            <a:r>
              <a:rPr lang="en-US" sz="2400" b="1" dirty="0" smtClean="0">
                <a:ea typeface="+mn-lt"/>
                <a:cs typeface="+mn-lt"/>
              </a:rPr>
              <a:t> </a:t>
            </a:r>
            <a:r>
              <a:rPr lang="en-US" sz="2400" dirty="0" smtClean="0">
                <a:ea typeface="+mn-lt"/>
                <a:cs typeface="+mn-lt"/>
              </a:rPr>
              <a:t>(</a:t>
            </a:r>
            <a:r>
              <a:rPr lang="en-US" sz="2400" dirty="0" err="1" smtClean="0">
                <a:ea typeface="+mn-lt"/>
                <a:cs typeface="+mn-lt"/>
              </a:rPr>
              <a:t>alle</a:t>
            </a:r>
            <a:r>
              <a:rPr lang="en-US" sz="2400" dirty="0" smtClean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fag) </a:t>
            </a:r>
            <a:r>
              <a:rPr lang="en-US" sz="2400" dirty="0" err="1">
                <a:ea typeface="+mn-lt"/>
                <a:cs typeface="+mn-lt"/>
              </a:rPr>
              <a:t>Eksamensprojekt</a:t>
            </a:r>
            <a:r>
              <a:rPr lang="en-US" sz="2400" dirty="0">
                <a:ea typeface="+mn-lt"/>
                <a:cs typeface="+mn-lt"/>
              </a:rPr>
              <a:t> – </a:t>
            </a:r>
            <a:r>
              <a:rPr lang="en-US" sz="2400" dirty="0" err="1">
                <a:ea typeface="+mn-lt"/>
                <a:cs typeface="+mn-lt"/>
              </a:rPr>
              <a:t>uge</a:t>
            </a: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dirty="0" smtClean="0">
                <a:ea typeface="+mn-lt"/>
                <a:cs typeface="+mn-lt"/>
              </a:rPr>
              <a:t>47-51</a:t>
            </a:r>
            <a:endParaRPr lang="x-none" sz="24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1942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Forventninger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da-DK" dirty="0" smtClean="0"/>
              <a:t>aktiv </a:t>
            </a:r>
            <a:r>
              <a:rPr lang="da-DK" dirty="0"/>
              <a:t>deltagelse i klassen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a-DK" dirty="0"/>
              <a:t>kamera på online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a-DK" dirty="0"/>
              <a:t>læs planer på </a:t>
            </a:r>
            <a:r>
              <a:rPr lang="da-DK" dirty="0" err="1" smtClean="0"/>
              <a:t>itslearning</a:t>
            </a:r>
            <a:endParaRPr lang="da-DK" dirty="0"/>
          </a:p>
          <a:p>
            <a:pPr>
              <a:buFont typeface="Wingdings" panose="05000000000000000000" pitchFamily="2" charset="2"/>
              <a:buChar char="ü"/>
            </a:pPr>
            <a:r>
              <a:rPr lang="da-DK" dirty="0"/>
              <a:t>lav opgaver løbende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da-DK" dirty="0"/>
              <a:t>læs jeres </a:t>
            </a:r>
            <a:r>
              <a:rPr lang="da-DK" dirty="0" smtClean="0"/>
              <a:t>EK-mail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717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B7A0E5D-48D7-496D-A468-D6E89900B598}" type="slidenum">
              <a:rPr lang="da-DK" altLang="da-DK">
                <a:solidFill>
                  <a:srgbClr val="898989"/>
                </a:solidFill>
                <a:latin typeface="Calibri" pitchFamily="34" charset="0"/>
              </a:rPr>
              <a:pPr eaLnBrk="1" hangingPunct="1"/>
              <a:t>13</a:t>
            </a:fld>
            <a:endParaRPr lang="da-DK" altLang="da-DK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4572000" y="3789040"/>
            <a:ext cx="792088" cy="504056"/>
          </a:xfrm>
          <a:prstGeom prst="wedgeRoundRectCallout">
            <a:avLst>
              <a:gd name="adj1" fmla="val -91945"/>
              <a:gd name="adj2" fmla="val 56151"/>
              <a:gd name="adj3" fmla="val 16667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/>
              <a:t>Vigtigt</a:t>
            </a:r>
          </a:p>
        </p:txBody>
      </p:sp>
    </p:spTree>
    <p:extLst>
      <p:ext uri="{BB962C8B-B14F-4D97-AF65-F5344CB8AC3E}">
        <p14:creationId xmlns:p14="http://schemas.microsoft.com/office/powerpoint/2010/main" val="2095769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æringsverksted 20230317: Kursets forsid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38204"/>
            <a:ext cx="4007434" cy="3846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Undervisning</a:t>
            </a:r>
            <a:r>
              <a:rPr lang="en-US" dirty="0" smtClean="0"/>
              <a:t> </a:t>
            </a:r>
            <a:r>
              <a:rPr lang="en-US" dirty="0" err="1" smtClean="0"/>
              <a:t>og</a:t>
            </a:r>
            <a:r>
              <a:rPr lang="en-US" dirty="0" smtClean="0"/>
              <a:t> </a:t>
            </a:r>
            <a:r>
              <a:rPr lang="en-US" dirty="0" err="1" smtClean="0"/>
              <a:t>Læring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14</a:t>
            </a:fld>
            <a:endParaRPr lang="da-DK"/>
          </a:p>
        </p:txBody>
      </p:sp>
      <p:pic>
        <p:nvPicPr>
          <p:cNvPr id="1026" name="Picture 2" descr="Undervisning | Børns liv og lær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3928343" cy="392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45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15</a:t>
            </a:fld>
            <a:endParaRPr lang="da-DK"/>
          </a:p>
        </p:txBody>
      </p:sp>
      <p:pic>
        <p:nvPicPr>
          <p:cNvPr id="2050" name="Picture 2" descr="The Future of AI: 15 Applications of Artificial Intelligence | JWU On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501796" cy="478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431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Lærebog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12279"/>
            <a:ext cx="8229600" cy="4525963"/>
          </a:xfrm>
        </p:spPr>
        <p:txBody>
          <a:bodyPr/>
          <a:lstStyle/>
          <a:p>
            <a:pPr fontAlgn="base"/>
            <a:r>
              <a:rPr lang="da-DK" dirty="0"/>
              <a:t>Jacob Nordfalk: Objektorienteret programmering i Java - 6. udgave</a:t>
            </a:r>
          </a:p>
          <a:p>
            <a:pPr fontAlgn="base"/>
            <a:r>
              <a:rPr lang="da-DK" dirty="0"/>
              <a:t>Javabog.dk (5.udg</a:t>
            </a:r>
            <a:r>
              <a:rPr lang="da-DK" dirty="0" smtClean="0"/>
              <a:t>) gratis</a:t>
            </a:r>
            <a:endParaRPr lang="da-DK" dirty="0"/>
          </a:p>
          <a:p>
            <a:pPr fontAlgn="base"/>
            <a:r>
              <a:rPr lang="da-DK" dirty="0" smtClean="0"/>
              <a:t>Bibliotek </a:t>
            </a:r>
            <a:r>
              <a:rPr lang="da-DK" dirty="0"/>
              <a:t>- opslag</a:t>
            </a:r>
          </a:p>
          <a:p>
            <a:pPr marL="0" indent="0" fontAlgn="base">
              <a:buNone/>
            </a:pP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ECF5-6C40-488B-BFC0-7C73247BE500}" type="slidenum">
              <a:rPr lang="da-DK" smtClean="0"/>
              <a:t>16</a:t>
            </a:fld>
            <a:endParaRPr lang="da-DK"/>
          </a:p>
        </p:txBody>
      </p:sp>
      <p:pic>
        <p:nvPicPr>
          <p:cNvPr id="1026" name="Picture 2" descr="C:\Users\Bjørn\Desktop\0x5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492896"/>
            <a:ext cx="2803111" cy="397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002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Supplerende</a:t>
            </a:r>
            <a:r>
              <a:rPr lang="en-US" dirty="0" smtClean="0"/>
              <a:t> </a:t>
            </a:r>
            <a:r>
              <a:rPr lang="en-US" dirty="0" err="1" smtClean="0"/>
              <a:t>læsning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17</a:t>
            </a:fld>
            <a:endParaRPr lang="da-DK"/>
          </a:p>
        </p:txBody>
      </p:sp>
      <p:pic>
        <p:nvPicPr>
          <p:cNvPr id="2050" name="Picture 2" descr="Spring Start Here | Book by Laurentiu Spilca | Official Publisher Page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484784"/>
            <a:ext cx="2707742" cy="3394348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64022"/>
            <a:ext cx="2797302" cy="3477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Murach's Mysql : Training &amp; Refere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002" y="1484784"/>
            <a:ext cx="2715478" cy="339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517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 descr="Mødeprotokol faglærer Protokol med 28 navne, 1 stk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556792"/>
            <a:ext cx="4820543" cy="482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Protokol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ikke obligatorisk fremmøde</a:t>
            </a:r>
          </a:p>
          <a:p>
            <a:r>
              <a:rPr lang="da-DK" dirty="0"/>
              <a:t>kun til interne statistik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2F955-0D5E-4A0E-8C2D-B078D095E870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1134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7 gode raad til dig med eksamensangst - Jeanette Wit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32" y="0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293096"/>
            <a:ext cx="8229600" cy="4525963"/>
          </a:xfrm>
        </p:spPr>
        <p:txBody>
          <a:bodyPr/>
          <a:lstStyle/>
          <a:p>
            <a:r>
              <a:rPr lang="da-DK" dirty="0" smtClean="0"/>
              <a:t>Individuel mundtlig </a:t>
            </a:r>
            <a:r>
              <a:rPr lang="da-DK" dirty="0"/>
              <a:t>eksamen i </a:t>
            </a:r>
            <a:r>
              <a:rPr lang="da-DK" dirty="0" smtClean="0"/>
              <a:t>januar</a:t>
            </a:r>
            <a:endParaRPr lang="da-DK" dirty="0"/>
          </a:p>
          <a:p>
            <a:r>
              <a:rPr lang="da-DK" dirty="0" smtClean="0"/>
              <a:t>Fremlæggelse i grupper af eksamensprojekt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ECF5-6C40-488B-BFC0-7C73247BE500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15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288</Words>
  <Application>Microsoft Office PowerPoint</Application>
  <PresentationFormat>On-screen Show (4:3)</PresentationFormat>
  <Paragraphs>127</Paragraphs>
  <Slides>19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Programmering DAT-GBG-DA-F26A</vt:lpstr>
      <vt:lpstr>Dagens program</vt:lpstr>
      <vt:lpstr>Bjørn Christensen Underviser </vt:lpstr>
      <vt:lpstr>Jannick Hansen Hjælpelærer </vt:lpstr>
      <vt:lpstr>PowerPoint Presentation</vt:lpstr>
      <vt:lpstr>Semesterplan</vt:lpstr>
      <vt:lpstr>Ugeskema</vt:lpstr>
      <vt:lpstr>Review møder – onsdage 8.30-11.45</vt:lpstr>
      <vt:lpstr>itslearning</vt:lpstr>
      <vt:lpstr>Programmering indhold</vt:lpstr>
      <vt:lpstr>Full stack web-løsning</vt:lpstr>
      <vt:lpstr>Obligatoriske projekter</vt:lpstr>
      <vt:lpstr>Forventninger</vt:lpstr>
      <vt:lpstr>Undervisning og Læring</vt:lpstr>
      <vt:lpstr>PowerPoint Presentation</vt:lpstr>
      <vt:lpstr>Lærebog</vt:lpstr>
      <vt:lpstr>Supplerende læsning</vt:lpstr>
      <vt:lpstr>Protokol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Bjørn</dc:creator>
  <cp:lastModifiedBy>Bjørn Christensen</cp:lastModifiedBy>
  <cp:revision>61</cp:revision>
  <cp:lastPrinted>2023-08-23T14:13:43Z</cp:lastPrinted>
  <dcterms:created xsi:type="dcterms:W3CDTF">2023-08-11T09:29:48Z</dcterms:created>
  <dcterms:modified xsi:type="dcterms:W3CDTF">2026-08-21T18:54:37Z</dcterms:modified>
</cp:coreProperties>
</file>